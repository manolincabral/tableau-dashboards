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E5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70" d="100"/>
          <a:sy n="70" d="100"/>
        </p:scale>
        <p:origin x="90"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A6E6-075E-4828-AF88-09BD0A7425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3800DB-487B-4E23-AC0B-90C9ED4E1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4DF5B1-3694-42A9-866E-9F1FF6CF0C01}"/>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5" name="Footer Placeholder 4">
            <a:extLst>
              <a:ext uri="{FF2B5EF4-FFF2-40B4-BE49-F238E27FC236}">
                <a16:creationId xmlns:a16="http://schemas.microsoft.com/office/drawing/2014/main" id="{54718E67-8162-4BE0-9B01-22B89A120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68B9D-A8C9-40C5-85B0-14F435F39C81}"/>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896738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D5D7-9AEB-44F2-8A04-0694BE1520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CE933F-693D-4770-8DC4-A5A086AC8AC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A7849A-1CE6-4F5C-95D7-EA8DA5EE5551}"/>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5" name="Footer Placeholder 4">
            <a:extLst>
              <a:ext uri="{FF2B5EF4-FFF2-40B4-BE49-F238E27FC236}">
                <a16:creationId xmlns:a16="http://schemas.microsoft.com/office/drawing/2014/main" id="{39FE1FD0-B95E-4CF6-9A27-0F91F96DA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6123BE-5891-49D6-A758-867A98F38D77}"/>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35972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5FC7-1BEA-438E-A0A7-88FF55112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D5F5C0-417B-4A28-8AE9-A79AC74A62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BC6257-C490-4059-9E97-16E46673C65A}"/>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5" name="Footer Placeholder 4">
            <a:extLst>
              <a:ext uri="{FF2B5EF4-FFF2-40B4-BE49-F238E27FC236}">
                <a16:creationId xmlns:a16="http://schemas.microsoft.com/office/drawing/2014/main" id="{7A4051CD-74EC-43C1-9F21-D33BD297FC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95141-29DC-41BA-BE25-E899055F317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69453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FC21-AE04-4050-80E6-D9DCA4B50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885F7E-EF45-48F7-9E54-C6806D0E96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24501F-6ED5-4112-B037-D3E9F8CF2C8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61E48C-176E-4E60-8CB3-5425169963CD}"/>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6" name="Footer Placeholder 5">
            <a:extLst>
              <a:ext uri="{FF2B5EF4-FFF2-40B4-BE49-F238E27FC236}">
                <a16:creationId xmlns:a16="http://schemas.microsoft.com/office/drawing/2014/main" id="{5852202B-C929-4B39-AF47-D17C38F868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EEEBF3-930A-4A23-810D-C1880E7A6D29}"/>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723384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48E08-A828-430D-B8A6-7302E570AD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FF5402-465C-4E68-BF7E-BFE1177B5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69B917D-5EC9-44FC-B8A7-9ADF4ADC4FA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DCF5D4-E55C-42FF-A7E5-2466DE35B8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7579A7F-77F4-4169-8D51-21234419984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5923-3BB5-4F33-8E76-56665E95B55A}"/>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8" name="Footer Placeholder 7">
            <a:extLst>
              <a:ext uri="{FF2B5EF4-FFF2-40B4-BE49-F238E27FC236}">
                <a16:creationId xmlns:a16="http://schemas.microsoft.com/office/drawing/2014/main" id="{FA43FC79-7089-4373-88DC-12501E7820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E0BEB1-B009-47B7-B159-DE05E615E710}"/>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41972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FFCC-78CC-4E9D-A277-8230F2733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4CEFE7-D923-48C1-B2FE-8110829C69E3}"/>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4" name="Footer Placeholder 3">
            <a:extLst>
              <a:ext uri="{FF2B5EF4-FFF2-40B4-BE49-F238E27FC236}">
                <a16:creationId xmlns:a16="http://schemas.microsoft.com/office/drawing/2014/main" id="{A68F91C9-7841-4F7B-8F24-B5FF45B5B3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896739-CF17-4867-A5ED-317AD19F5A3B}"/>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953114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8942B-5ECF-4556-91C2-496E4C52EF8A}"/>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3" name="Footer Placeholder 2">
            <a:extLst>
              <a:ext uri="{FF2B5EF4-FFF2-40B4-BE49-F238E27FC236}">
                <a16:creationId xmlns:a16="http://schemas.microsoft.com/office/drawing/2014/main" id="{3E1589EF-E9AD-45F7-BFBE-6F8AD35703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18E0FA-5424-403C-8462-1B7C301C65D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246240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27A56-C315-441C-9002-DFD599AED2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F57D9A-8037-4B31-951B-4675ADA693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63141B-5121-4179-B3F6-529569122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60C32E-3427-4696-A55A-56886EA24AEB}"/>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6" name="Footer Placeholder 5">
            <a:extLst>
              <a:ext uri="{FF2B5EF4-FFF2-40B4-BE49-F238E27FC236}">
                <a16:creationId xmlns:a16="http://schemas.microsoft.com/office/drawing/2014/main" id="{7DDFE526-7D20-4EC0-9624-E77981295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AA82D7-E462-4060-85D6-85CF555401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830305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919B-BF68-4590-8CA9-A51BAC0F7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4BC1AA-5C68-47DC-BBF0-1E309865E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81A636-7F9C-43EC-B2F2-6FB3323CB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19410E-A050-4AA2-BC89-EF52EB1C34F6}"/>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6" name="Footer Placeholder 5">
            <a:extLst>
              <a:ext uri="{FF2B5EF4-FFF2-40B4-BE49-F238E27FC236}">
                <a16:creationId xmlns:a16="http://schemas.microsoft.com/office/drawing/2014/main" id="{B0C23AB0-18A5-4589-926D-C00F68CFE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4EE52-EECA-4C6E-83E9-6382044D356C}"/>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609688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36FE-B6CA-4D45-A719-6B51F3FF6D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B9388C-63B0-4DA8-97D0-BEEDCF401C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D9BDB0-2A2B-43AC-965A-A9E7E7F741CD}"/>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5" name="Footer Placeholder 4">
            <a:extLst>
              <a:ext uri="{FF2B5EF4-FFF2-40B4-BE49-F238E27FC236}">
                <a16:creationId xmlns:a16="http://schemas.microsoft.com/office/drawing/2014/main" id="{B67DA7C3-2A5B-4BED-A540-9136486CC5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888E8-31D6-4E51-9228-0D6066FED5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471160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010CA-6776-433E-8E25-97899E0828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391E6E-3CF5-4535-B37E-E30058EA284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ADEE3-AAA7-4846-8EC6-84B1537C1D74}"/>
              </a:ext>
            </a:extLst>
          </p:cNvPr>
          <p:cNvSpPr>
            <a:spLocks noGrp="1"/>
          </p:cNvSpPr>
          <p:nvPr>
            <p:ph type="dt" sz="half" idx="10"/>
          </p:nvPr>
        </p:nvSpPr>
        <p:spPr/>
        <p:txBody>
          <a:bodyPr/>
          <a:lstStyle/>
          <a:p>
            <a:fld id="{EED1C14C-A143-42F5-B247-D0E800131009}" type="datetimeFigureOut">
              <a:rPr lang="en-US" smtClean="0"/>
              <a:t>2/12/2026</a:t>
            </a:fld>
            <a:endParaRPr lang="en-US"/>
          </a:p>
        </p:txBody>
      </p:sp>
      <p:sp>
        <p:nvSpPr>
          <p:cNvPr id="5" name="Footer Placeholder 4">
            <a:extLst>
              <a:ext uri="{FF2B5EF4-FFF2-40B4-BE49-F238E27FC236}">
                <a16:creationId xmlns:a16="http://schemas.microsoft.com/office/drawing/2014/main" id="{001DABD6-6E60-4895-89B1-3604A484D2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4D314-6D1C-4A42-A445-B77646B2B29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19552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F6010-77C4-45FE-968C-712199A58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9B1B2C-5D5F-46D9-92F5-ECDF2816A1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34894-C6F5-46F1-BAA2-AFEA88E681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D1C14C-A143-42F5-B247-D0E800131009}" type="datetimeFigureOut">
              <a:rPr lang="en-US" smtClean="0"/>
              <a:t>2/12/2026</a:t>
            </a:fld>
            <a:endParaRPr lang="en-US"/>
          </a:p>
        </p:txBody>
      </p:sp>
      <p:sp>
        <p:nvSpPr>
          <p:cNvPr id="5" name="Footer Placeholder 4">
            <a:extLst>
              <a:ext uri="{FF2B5EF4-FFF2-40B4-BE49-F238E27FC236}">
                <a16:creationId xmlns:a16="http://schemas.microsoft.com/office/drawing/2014/main" id="{975B1C84-4663-4022-BBEA-7667FEBCF3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2820DA-1F3A-421F-A770-A6347089E3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03D32D-F1BC-4E9C-97E1-36CFF5B22341}" type="slidenum">
              <a:rPr lang="en-US" smtClean="0"/>
              <a:t>‹#›</a:t>
            </a:fld>
            <a:endParaRPr lang="en-US"/>
          </a:p>
        </p:txBody>
      </p:sp>
    </p:spTree>
    <p:extLst>
      <p:ext uri="{BB962C8B-B14F-4D97-AF65-F5344CB8AC3E}">
        <p14:creationId xmlns:p14="http://schemas.microsoft.com/office/powerpoint/2010/main" val="1904852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E5EF"/>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B95518-C1D9-7C3F-D346-072C89EE1563}"/>
              </a:ext>
            </a:extLst>
          </p:cNvPr>
          <p:cNvSpPr txBox="1"/>
          <p:nvPr/>
        </p:nvSpPr>
        <p:spPr>
          <a:xfrm>
            <a:off x="980364" y="450377"/>
            <a:ext cx="10072047" cy="830997"/>
          </a:xfrm>
          <a:prstGeom prst="rect">
            <a:avLst/>
          </a:prstGeom>
          <a:noFill/>
        </p:spPr>
        <p:txBody>
          <a:bodyPr wrap="square" rtlCol="0">
            <a:spAutoFit/>
          </a:bodyPr>
          <a:lstStyle/>
          <a:p>
            <a:r>
              <a:rPr lang="en-US" sz="4800" dirty="0">
                <a:effectLst>
                  <a:outerShdw blurRad="50800" dist="38100" dir="5400000" algn="t" rotWithShape="0">
                    <a:prstClr val="black">
                      <a:alpha val="40000"/>
                    </a:prstClr>
                  </a:outerShdw>
                </a:effectLst>
                <a:latin typeface="Biome" panose="020B0502040204020203" pitchFamily="34" charset="0"/>
                <a:cs typeface="Biome" panose="020B0502040204020203" pitchFamily="34" charset="0"/>
              </a:rPr>
              <a:t>Real Estate Market Dashboard</a:t>
            </a:r>
          </a:p>
        </p:txBody>
      </p:sp>
      <p:sp>
        <p:nvSpPr>
          <p:cNvPr id="5" name="TextBox 4">
            <a:extLst>
              <a:ext uri="{FF2B5EF4-FFF2-40B4-BE49-F238E27FC236}">
                <a16:creationId xmlns:a16="http://schemas.microsoft.com/office/drawing/2014/main" id="{EC08645E-1E68-2858-4FC4-F2495848DD15}"/>
              </a:ext>
            </a:extLst>
          </p:cNvPr>
          <p:cNvSpPr txBox="1"/>
          <p:nvPr/>
        </p:nvSpPr>
        <p:spPr>
          <a:xfrm>
            <a:off x="900752" y="1665027"/>
            <a:ext cx="10231271" cy="3170099"/>
          </a:xfrm>
          <a:prstGeom prst="rect">
            <a:avLst/>
          </a:prstGeom>
          <a:noFill/>
        </p:spPr>
        <p:txBody>
          <a:bodyPr wrap="square" rtlCol="0">
            <a:spAutoFit/>
          </a:bodyPr>
          <a:lstStyle/>
          <a:p>
            <a:r>
              <a:rPr lang="en-US" sz="2000" dirty="0"/>
              <a:t>This analysis is based on a data source extract for the year 2023, and a limited set of cities (10).</a:t>
            </a:r>
          </a:p>
          <a:p>
            <a:endParaRPr lang="en-US" sz="2000" dirty="0"/>
          </a:p>
          <a:p>
            <a:r>
              <a:rPr lang="en-US" sz="2000" dirty="0"/>
              <a:t>The project structure is:</a:t>
            </a:r>
          </a:p>
          <a:p>
            <a:r>
              <a:rPr lang="en-US" sz="2000" dirty="0"/>
              <a:t>1 – Tableau file (</a:t>
            </a:r>
            <a:r>
              <a:rPr lang="en-US" sz="2000" dirty="0" err="1"/>
              <a:t>twb</a:t>
            </a:r>
            <a:r>
              <a:rPr lang="en-US" sz="2000" dirty="0"/>
              <a:t>) – this is the interactive Tableau Dashboard and all the worksheets.</a:t>
            </a:r>
          </a:p>
          <a:p>
            <a:r>
              <a:rPr lang="en-US" sz="2000" dirty="0"/>
              <a:t>2 – Data file (csv) – Source data file formatted as comma delimited file.</a:t>
            </a:r>
          </a:p>
          <a:p>
            <a:r>
              <a:rPr lang="en-US" sz="2000" dirty="0"/>
              <a:t>3 – Presentation file (pptx) – this file showcasing a presentation with the analysis facts.</a:t>
            </a:r>
          </a:p>
          <a:p>
            <a:endParaRPr lang="en-US" sz="2000" dirty="0"/>
          </a:p>
          <a:p>
            <a:r>
              <a:rPr lang="en-US" sz="2000" dirty="0"/>
              <a:t>The Dashboard showcases Bar charts, Line chart, Donut chart, and column charts, as well as cars for the key vales, like average listing and sale prices, number of properties sold, average days on the market, and more.</a:t>
            </a:r>
          </a:p>
        </p:txBody>
      </p:sp>
    </p:spTree>
    <p:extLst>
      <p:ext uri="{BB962C8B-B14F-4D97-AF65-F5344CB8AC3E}">
        <p14:creationId xmlns:p14="http://schemas.microsoft.com/office/powerpoint/2010/main" val="2437282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 descr="Dashboard 1">
            <a:extLst>
              <a:ext uri="{FF2B5EF4-FFF2-40B4-BE49-F238E27FC236}">
                <a16:creationId xmlns:a16="http://schemas.microsoft.com/office/drawing/2014/main" id="{114DA862-841F-4CF6-8E1C-583C7DD285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28"/>
            <a:ext cx="12192000" cy="6850743"/>
          </a:xfrm>
          <a:prstGeom prst="rect">
            <a:avLst/>
          </a:prstGeom>
        </p:spPr>
      </p:pic>
    </p:spTree>
    <p:extLst>
      <p:ext uri="{BB962C8B-B14F-4D97-AF65-F5344CB8AC3E}">
        <p14:creationId xmlns:p14="http://schemas.microsoft.com/office/powerpoint/2010/main" val="95992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132</Words>
  <Application>Microsoft Office PowerPoint</Application>
  <PresentationFormat>Widescreen</PresentationFormat>
  <Paragraphs>9</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Biome</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Carlos Cabral</cp:lastModifiedBy>
  <cp:revision>3</cp:revision>
  <dcterms:created xsi:type="dcterms:W3CDTF">2026-02-13T02:45:52Z</dcterms:created>
  <dcterms:modified xsi:type="dcterms:W3CDTF">2026-02-13T03:00:59Z</dcterms:modified>
</cp:coreProperties>
</file>