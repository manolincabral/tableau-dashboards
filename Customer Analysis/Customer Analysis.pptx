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3" r:id="rId3"/>
    <p:sldId id="264" r:id="rId4"/>
    <p:sldId id="265" r:id="rId5"/>
    <p:sldId id="266" r:id="rId6"/>
    <p:sldId id="262" r:id="rId7"/>
    <p:sldId id="257" r:id="rId8"/>
    <p:sldId id="258" r:id="rId9"/>
    <p:sldId id="259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5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78FD7-B2F1-CE6A-BDC4-4CC86D313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4ECAD9-9C00-6F84-0E29-FD0A63BCB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4E9EF-B432-EBF5-1ACB-0D9F89F7A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C515-59ED-401C-B33B-1026F7414F4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026CC-C79E-6A19-B750-566B6B8C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13505-E46F-BF6F-1FA4-F747D340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69C8-FA34-45BC-8748-4991B2C52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5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6147A-0CBD-FAFE-7014-E0905E92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50ED9-B280-2C4C-D22E-55937A17C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2A17C-C34C-E86A-925E-AB45E1D43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C515-59ED-401C-B33B-1026F7414F4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89AD1-1B63-5E95-64F9-0F8456D63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78163-9B2F-554F-072D-181541120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69C8-FA34-45BC-8748-4991B2C52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29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8086-8C4A-C4F5-27B0-12EAABC8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6743-2C25-CF3B-D9DF-6D08F9EFA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767FB-5782-4A97-FDCB-79795D71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C515-59ED-401C-B33B-1026F7414F4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B1016-BEA6-8303-D998-395EC184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6F0F9-05B2-ACA9-CB9C-A4DDA681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69C8-FA34-45BC-8748-4991B2C52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52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5A9A-9C98-D8AA-F60D-EF09FFA3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ADAFB-040C-2CD1-03D9-FDCC7459A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3E4D6-B2F9-8DC8-A211-1CFE193DA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B2346-770D-5A00-C0B0-FB46DDF9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C515-59ED-401C-B33B-1026F7414F4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3BCAB-0F8A-BC37-C86E-0C3CD30C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348F9-32BF-B6E4-8C3F-099E047D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69C8-FA34-45BC-8748-4991B2C52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28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C584-75FE-F1C7-0663-3AB6FBA54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1FC81-2BEF-79E0-D43A-61D628048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7980D-158D-30E7-BC56-5779F55A1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E62BAB-A2C6-BBDB-FC3A-C34F61A3B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217101-8BDE-8735-A0F5-9A9C9EC1E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242F9B-CF8D-9536-D4FB-A359C3E62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C515-59ED-401C-B33B-1026F7414F4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032A69-018E-7BF5-D0AC-606C1FA4E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26C99F-782C-F22B-712C-819C8C8A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69C8-FA34-45BC-8748-4991B2C52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9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5727-64A7-1F9E-7F50-245E6C18E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6EEF80-81CC-74C9-B484-D216402BB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C515-59ED-401C-B33B-1026F7414F4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0C59C-8EAA-A687-BB0B-1C1CD890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1FA5F7-88FE-60CD-394B-D083231A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69C8-FA34-45BC-8748-4991B2C52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4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26E281-C498-CA93-EE4F-54F56F0B1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C515-59ED-401C-B33B-1026F7414F4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7F6A7A-8CB3-9D2D-0AE0-48242B144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F6471-DA55-6B19-FFA5-DD5A9445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69C8-FA34-45BC-8748-4991B2C52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16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CD433-3940-DEF1-CA92-EEFFDA84B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EF140-4D20-E235-C9F7-17C56F5A1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D7255-1849-48CD-B1D9-44B402780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7EFFD-FC9B-F3E9-27E4-D082BC60D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C515-59ED-401C-B33B-1026F7414F4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CC1DD-C24A-9052-BA0B-5413719C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1EFCE-7230-2ABB-85D9-9FF50562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69C8-FA34-45BC-8748-4991B2C52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34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D715-37FD-8A16-F460-044CACC2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1BC9D4-A0AD-9D16-076A-225E7206F5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C5389-3CFE-F15C-D2B6-A0D180A54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EF54D-A9AF-66B1-DC8F-148A7C78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C515-59ED-401C-B33B-1026F7414F4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CC8F1-5F99-F930-1623-647E3EE4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9F16C-5DD7-34F2-CEE5-C3D6B8FF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69C8-FA34-45BC-8748-4991B2C52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8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03EB-552B-8AB1-EC72-D5584A4CE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EDFBA-6757-4C2A-27E6-3ACB6B17C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B7178-5EE0-2A76-03DB-8188FB13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C515-59ED-401C-B33B-1026F7414F4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87AEA-EA49-B528-0C60-842B85371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AF73E-E32C-D66A-E29B-1E2B54F32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69C8-FA34-45BC-8748-4991B2C52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6E3096-C83A-36EF-468D-C5876D140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7FAC5-5B24-FE4F-2126-A8C8D67C7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DA483-7F89-90FD-8198-E9AC932A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C515-59ED-401C-B33B-1026F7414F4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51A8-39EF-665E-27EA-674882EA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03564-5B7B-BF8B-47AA-89802F9AC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969C8-FA34-45BC-8748-4991B2C52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48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2F822D-8CFD-8C3A-AB82-E9EBD2D85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8C5D1-A474-5732-FE15-76C0A0329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21127-22EC-2B84-9CC2-06F5894871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ECC515-59ED-401C-B33B-1026F7414F4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1A2E4-90F8-2E1F-48FF-A3E82F0E6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CF7E3-3338-6B00-B5B3-43193484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F969C8-FA34-45BC-8748-4991B2C52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4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94B39-5772-1B55-861A-16836CC5F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32F7903-6A08-D54B-A041-7DBA0288A6E6}"/>
              </a:ext>
            </a:extLst>
          </p:cNvPr>
          <p:cNvGrpSpPr/>
          <p:nvPr/>
        </p:nvGrpSpPr>
        <p:grpSpPr>
          <a:xfrm>
            <a:off x="-6870700" y="0"/>
            <a:ext cx="11280371" cy="6858000"/>
            <a:chOff x="0" y="0"/>
            <a:chExt cx="11280371" cy="685800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8209713-E3EC-1DBF-E68E-615E8BC7AB1E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5208059 h 6858000"/>
                <a:gd name="csX3" fmla="*/ 11123812 w 11280371"/>
                <a:gd name="csY3" fmla="*/ 5208059 h 6858000"/>
                <a:gd name="csX4" fmla="*/ 11280371 w 11280371"/>
                <a:gd name="csY4" fmla="*/ 5364618 h 6858000"/>
                <a:gd name="csX5" fmla="*/ 11280371 w 11280371"/>
                <a:gd name="csY5" fmla="*/ 5990838 h 6858000"/>
                <a:gd name="csX6" fmla="*/ 11123812 w 11280371"/>
                <a:gd name="csY6" fmla="*/ 6147397 h 6858000"/>
                <a:gd name="csX7" fmla="*/ 10523913 w 11280371"/>
                <a:gd name="csY7" fmla="*/ 6147397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5208059"/>
                  </a:lnTo>
                  <a:lnTo>
                    <a:pt x="11123812" y="5208059"/>
                  </a:lnTo>
                  <a:cubicBezTo>
                    <a:pt x="11210277" y="5208059"/>
                    <a:pt x="11280371" y="5278153"/>
                    <a:pt x="11280371" y="5364618"/>
                  </a:cubicBezTo>
                  <a:lnTo>
                    <a:pt x="11280371" y="5990838"/>
                  </a:lnTo>
                  <a:cubicBezTo>
                    <a:pt x="11280371" y="6077303"/>
                    <a:pt x="11210277" y="6147397"/>
                    <a:pt x="11123812" y="6147397"/>
                  </a:cubicBezTo>
                  <a:lnTo>
                    <a:pt x="10523913" y="6147397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/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2792FE4-C2AF-6684-E68B-5D84E6DAD289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 requirements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per state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based on month of the year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based on age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Graph Quantity/Discount percent correlation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Show percentage of revenue per region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Show revenue per category per gender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D1CA8C4-5A96-6E00-2686-4E4059BDD7C9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0E7CAA5-6AD4-5506-516D-E2F4F5A41675}"/>
                </a:ext>
              </a:extLst>
            </p:cNvPr>
            <p:cNvSpPr txBox="1"/>
            <p:nvPr/>
          </p:nvSpPr>
          <p:spPr>
            <a:xfrm>
              <a:off x="10413241" y="5182706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2D7B684-75E6-2139-31A4-144CFB4FA6DA}"/>
              </a:ext>
            </a:extLst>
          </p:cNvPr>
          <p:cNvGrpSpPr/>
          <p:nvPr/>
        </p:nvGrpSpPr>
        <p:grpSpPr>
          <a:xfrm>
            <a:off x="-7878359" y="0"/>
            <a:ext cx="11280371" cy="6858000"/>
            <a:chOff x="0" y="0"/>
            <a:chExt cx="11280371" cy="6858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91BE9FD-E167-E259-F87C-DE198A96B204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3709745 h 6858000"/>
                <a:gd name="csX3" fmla="*/ 11123812 w 11280371"/>
                <a:gd name="csY3" fmla="*/ 3709745 h 6858000"/>
                <a:gd name="csX4" fmla="*/ 11280371 w 11280371"/>
                <a:gd name="csY4" fmla="*/ 3866304 h 6858000"/>
                <a:gd name="csX5" fmla="*/ 11280371 w 11280371"/>
                <a:gd name="csY5" fmla="*/ 4492524 h 6858000"/>
                <a:gd name="csX6" fmla="*/ 11123812 w 11280371"/>
                <a:gd name="csY6" fmla="*/ 4649083 h 6858000"/>
                <a:gd name="csX7" fmla="*/ 10523913 w 11280371"/>
                <a:gd name="csY7" fmla="*/ 4649083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3709745"/>
                  </a:lnTo>
                  <a:lnTo>
                    <a:pt x="11123812" y="3709745"/>
                  </a:lnTo>
                  <a:cubicBezTo>
                    <a:pt x="11210277" y="3709745"/>
                    <a:pt x="11280371" y="3779839"/>
                    <a:pt x="11280371" y="3866304"/>
                  </a:cubicBezTo>
                  <a:lnTo>
                    <a:pt x="11280371" y="4492524"/>
                  </a:lnTo>
                  <a:cubicBezTo>
                    <a:pt x="11280371" y="4578989"/>
                    <a:pt x="11210277" y="4649083"/>
                    <a:pt x="11123812" y="4649083"/>
                  </a:cubicBezTo>
                  <a:lnTo>
                    <a:pt x="10523913" y="4649083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1A9FDB-B155-70E9-6EF6-3A89698E3061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 techniques</a:t>
              </a:r>
            </a:p>
            <a:p>
              <a:r>
                <a:rPr lang="en-US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In this Dashboard you will find standard cards like a Map, Bar Chart, Scatter plot, as well as more complex cards like Donut chart and a Butterfly bar chart.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2A08004-92A1-B755-A8D2-EFA3CEEC39B1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02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C189319-C8C2-AFD3-D466-5F01B5626A81}"/>
                </a:ext>
              </a:extLst>
            </p:cNvPr>
            <p:cNvSpPr txBox="1"/>
            <p:nvPr/>
          </p:nvSpPr>
          <p:spPr>
            <a:xfrm>
              <a:off x="10413242" y="3675182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C3BB23-466B-E0A5-7F4D-742C8750B5B4}"/>
              </a:ext>
            </a:extLst>
          </p:cNvPr>
          <p:cNvGrpSpPr/>
          <p:nvPr/>
        </p:nvGrpSpPr>
        <p:grpSpPr>
          <a:xfrm>
            <a:off x="-8886018" y="0"/>
            <a:ext cx="11280371" cy="6858000"/>
            <a:chOff x="0" y="0"/>
            <a:chExt cx="11280371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B2A17C4-B5C7-5BEE-122B-ABBA5847DEB3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2211430 h 6858000"/>
                <a:gd name="csX3" fmla="*/ 11123812 w 11280371"/>
                <a:gd name="csY3" fmla="*/ 2211430 h 6858000"/>
                <a:gd name="csX4" fmla="*/ 11280371 w 11280371"/>
                <a:gd name="csY4" fmla="*/ 2367989 h 6858000"/>
                <a:gd name="csX5" fmla="*/ 11280371 w 11280371"/>
                <a:gd name="csY5" fmla="*/ 2994209 h 6858000"/>
                <a:gd name="csX6" fmla="*/ 11123812 w 11280371"/>
                <a:gd name="csY6" fmla="*/ 3150768 h 6858000"/>
                <a:gd name="csX7" fmla="*/ 10523913 w 11280371"/>
                <a:gd name="csY7" fmla="*/ 3150768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2211430"/>
                  </a:lnTo>
                  <a:lnTo>
                    <a:pt x="11123812" y="2211430"/>
                  </a:lnTo>
                  <a:cubicBezTo>
                    <a:pt x="11210277" y="2211430"/>
                    <a:pt x="11280371" y="2281524"/>
                    <a:pt x="11280371" y="2367989"/>
                  </a:cubicBezTo>
                  <a:lnTo>
                    <a:pt x="11280371" y="2994209"/>
                  </a:lnTo>
                  <a:cubicBezTo>
                    <a:pt x="11280371" y="3080674"/>
                    <a:pt x="11210277" y="3150768"/>
                    <a:pt x="11123812" y="3150768"/>
                  </a:cubicBezTo>
                  <a:lnTo>
                    <a:pt x="10523913" y="3150768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6505331-79DC-411A-EF7E-91AA86DFF26B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Project structure</a:t>
              </a:r>
            </a:p>
            <a:p>
              <a:r>
                <a:rPr lang="en-US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This project contains a data file, the Tableau file, and this PowerPoint presentation.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F16662-8491-77CD-6025-B8B07D6B999F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67B50AE-C6A8-68CA-EDD0-AA2E14056174}"/>
                </a:ext>
              </a:extLst>
            </p:cNvPr>
            <p:cNvSpPr txBox="1"/>
            <p:nvPr/>
          </p:nvSpPr>
          <p:spPr>
            <a:xfrm>
              <a:off x="10413242" y="2201214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ABC23D-DBF1-C37A-0143-55461D4872C9}"/>
              </a:ext>
            </a:extLst>
          </p:cNvPr>
          <p:cNvGrpSpPr/>
          <p:nvPr/>
        </p:nvGrpSpPr>
        <p:grpSpPr>
          <a:xfrm>
            <a:off x="-9893677" y="0"/>
            <a:ext cx="11280371" cy="6858000"/>
            <a:chOff x="0" y="0"/>
            <a:chExt cx="11280371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D77EE3-55B9-5616-FAEF-2AE8625A36A2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713115 h 6858000"/>
                <a:gd name="csX3" fmla="*/ 11123812 w 11280371"/>
                <a:gd name="csY3" fmla="*/ 713115 h 6858000"/>
                <a:gd name="csX4" fmla="*/ 11280371 w 11280371"/>
                <a:gd name="csY4" fmla="*/ 869674 h 6858000"/>
                <a:gd name="csX5" fmla="*/ 11280371 w 11280371"/>
                <a:gd name="csY5" fmla="*/ 1495894 h 6858000"/>
                <a:gd name="csX6" fmla="*/ 11123812 w 11280371"/>
                <a:gd name="csY6" fmla="*/ 1652453 h 6858000"/>
                <a:gd name="csX7" fmla="*/ 10523913 w 11280371"/>
                <a:gd name="csY7" fmla="*/ 1652453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713115"/>
                  </a:lnTo>
                  <a:lnTo>
                    <a:pt x="11123812" y="713115"/>
                  </a:lnTo>
                  <a:cubicBezTo>
                    <a:pt x="11210277" y="713115"/>
                    <a:pt x="11280371" y="783209"/>
                    <a:pt x="11280371" y="869674"/>
                  </a:cubicBezTo>
                  <a:lnTo>
                    <a:pt x="11280371" y="1495894"/>
                  </a:lnTo>
                  <a:cubicBezTo>
                    <a:pt x="11280371" y="1582359"/>
                    <a:pt x="11210277" y="1652453"/>
                    <a:pt x="11123812" y="1652453"/>
                  </a:cubicBezTo>
                  <a:lnTo>
                    <a:pt x="10523913" y="1652453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8F6B77A-7D85-FCB1-0702-0F660E84FAD7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E06B85-089B-368E-AF36-959AB07E88EB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04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B10904-D205-6540-214F-79A18EA00A1F}"/>
                </a:ext>
              </a:extLst>
            </p:cNvPr>
            <p:cNvSpPr txBox="1"/>
            <p:nvPr/>
          </p:nvSpPr>
          <p:spPr>
            <a:xfrm>
              <a:off x="10413242" y="686322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4</a:t>
              </a:r>
            </a:p>
          </p:txBody>
        </p:sp>
        <p:pic>
          <p:nvPicPr>
            <p:cNvPr id="22" name="slide2" descr="Customer Analysis Dashboard">
              <a:extLst>
                <a:ext uri="{FF2B5EF4-FFF2-40B4-BE49-F238E27FC236}">
                  <a16:creationId xmlns:a16="http://schemas.microsoft.com/office/drawing/2014/main" id="{A56B3830-BA79-BFB7-8F67-8FD72E5B0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7812" y="2315407"/>
              <a:ext cx="5927529" cy="3950038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77B1C85-24C0-7656-417A-3F922F94E500}"/>
              </a:ext>
            </a:extLst>
          </p:cNvPr>
          <p:cNvSpPr txBox="1"/>
          <p:nvPr/>
        </p:nvSpPr>
        <p:spPr>
          <a:xfrm>
            <a:off x="5638800" y="2315407"/>
            <a:ext cx="5025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Lucida Calligraphy" panose="020F0502020204030204" pitchFamily="66" charset="0"/>
              </a:rPr>
              <a:t>Customer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EBE0EA-112B-B85C-F557-E8AAEE8483F6}"/>
              </a:ext>
            </a:extLst>
          </p:cNvPr>
          <p:cNvSpPr txBox="1"/>
          <p:nvPr/>
        </p:nvSpPr>
        <p:spPr>
          <a:xfrm>
            <a:off x="5638800" y="3154924"/>
            <a:ext cx="5025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6570370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4876D-77DD-1074-6E19-1EF2B84EC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65FF0B8-C856-02D8-5C51-2B938260EA38}"/>
              </a:ext>
            </a:extLst>
          </p:cNvPr>
          <p:cNvGrpSpPr/>
          <p:nvPr/>
        </p:nvGrpSpPr>
        <p:grpSpPr>
          <a:xfrm>
            <a:off x="-965200" y="0"/>
            <a:ext cx="11280371" cy="6858000"/>
            <a:chOff x="0" y="0"/>
            <a:chExt cx="11280371" cy="685800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ECF24C7-3800-ED6D-5E7F-B8063B246D79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5208059 h 6858000"/>
                <a:gd name="csX3" fmla="*/ 11123812 w 11280371"/>
                <a:gd name="csY3" fmla="*/ 5208059 h 6858000"/>
                <a:gd name="csX4" fmla="*/ 11280371 w 11280371"/>
                <a:gd name="csY4" fmla="*/ 5364618 h 6858000"/>
                <a:gd name="csX5" fmla="*/ 11280371 w 11280371"/>
                <a:gd name="csY5" fmla="*/ 5990838 h 6858000"/>
                <a:gd name="csX6" fmla="*/ 11123812 w 11280371"/>
                <a:gd name="csY6" fmla="*/ 6147397 h 6858000"/>
                <a:gd name="csX7" fmla="*/ 10523913 w 11280371"/>
                <a:gd name="csY7" fmla="*/ 6147397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5208059"/>
                  </a:lnTo>
                  <a:lnTo>
                    <a:pt x="11123812" y="5208059"/>
                  </a:lnTo>
                  <a:cubicBezTo>
                    <a:pt x="11210277" y="5208059"/>
                    <a:pt x="11280371" y="5278153"/>
                    <a:pt x="11280371" y="5364618"/>
                  </a:cubicBezTo>
                  <a:lnTo>
                    <a:pt x="11280371" y="5990838"/>
                  </a:lnTo>
                  <a:cubicBezTo>
                    <a:pt x="11280371" y="6077303"/>
                    <a:pt x="11210277" y="6147397"/>
                    <a:pt x="11123812" y="6147397"/>
                  </a:cubicBezTo>
                  <a:lnTo>
                    <a:pt x="10523913" y="6147397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/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D91FA83-F571-B5D3-57D4-9DAC60E70636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 requirements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per state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based on month of the year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based on age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Graph Quantity/Discount percent correlation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Show percentage of revenue per region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Show revenue per category per gender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75FD1A5-0EEE-D12D-13DB-7FF1A71944DD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D2B4273-EC5C-01B8-381F-346FFB0F6896}"/>
                </a:ext>
              </a:extLst>
            </p:cNvPr>
            <p:cNvSpPr txBox="1"/>
            <p:nvPr/>
          </p:nvSpPr>
          <p:spPr>
            <a:xfrm>
              <a:off x="10413241" y="5182706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B2E93B8-FF0D-130E-7331-E6AA475D3C43}"/>
              </a:ext>
            </a:extLst>
          </p:cNvPr>
          <p:cNvGrpSpPr/>
          <p:nvPr/>
        </p:nvGrpSpPr>
        <p:grpSpPr>
          <a:xfrm>
            <a:off x="-7878359" y="0"/>
            <a:ext cx="11280371" cy="6858000"/>
            <a:chOff x="0" y="0"/>
            <a:chExt cx="11280371" cy="6858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05A2849-2B90-3809-D9D6-4A88EC674303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3709745 h 6858000"/>
                <a:gd name="csX3" fmla="*/ 11123812 w 11280371"/>
                <a:gd name="csY3" fmla="*/ 3709745 h 6858000"/>
                <a:gd name="csX4" fmla="*/ 11280371 w 11280371"/>
                <a:gd name="csY4" fmla="*/ 3866304 h 6858000"/>
                <a:gd name="csX5" fmla="*/ 11280371 w 11280371"/>
                <a:gd name="csY5" fmla="*/ 4492524 h 6858000"/>
                <a:gd name="csX6" fmla="*/ 11123812 w 11280371"/>
                <a:gd name="csY6" fmla="*/ 4649083 h 6858000"/>
                <a:gd name="csX7" fmla="*/ 10523913 w 11280371"/>
                <a:gd name="csY7" fmla="*/ 4649083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3709745"/>
                  </a:lnTo>
                  <a:lnTo>
                    <a:pt x="11123812" y="3709745"/>
                  </a:lnTo>
                  <a:cubicBezTo>
                    <a:pt x="11210277" y="3709745"/>
                    <a:pt x="11280371" y="3779839"/>
                    <a:pt x="11280371" y="3866304"/>
                  </a:cubicBezTo>
                  <a:lnTo>
                    <a:pt x="11280371" y="4492524"/>
                  </a:lnTo>
                  <a:cubicBezTo>
                    <a:pt x="11280371" y="4578989"/>
                    <a:pt x="11210277" y="4649083"/>
                    <a:pt x="11123812" y="4649083"/>
                  </a:cubicBezTo>
                  <a:lnTo>
                    <a:pt x="10523913" y="4649083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970283-C202-1733-0419-8657C778DABB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 techniques</a:t>
              </a:r>
            </a:p>
            <a:p>
              <a:r>
                <a:rPr lang="en-US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In this Dashboard you will find standard cards like a Map, Bar Chart, Scatter plot, as well as more complex cards like Donut chart and a Butterfly bar chart.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5E09A5-5974-A1C2-882E-9897EA26723A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02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A97143-F98B-62CA-AA29-F05666D47B82}"/>
                </a:ext>
              </a:extLst>
            </p:cNvPr>
            <p:cNvSpPr txBox="1"/>
            <p:nvPr/>
          </p:nvSpPr>
          <p:spPr>
            <a:xfrm>
              <a:off x="10413242" y="3675182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6471F2-9779-CB72-093E-A5790E4D80B6}"/>
              </a:ext>
            </a:extLst>
          </p:cNvPr>
          <p:cNvGrpSpPr/>
          <p:nvPr/>
        </p:nvGrpSpPr>
        <p:grpSpPr>
          <a:xfrm>
            <a:off x="-8886018" y="0"/>
            <a:ext cx="11280371" cy="6858000"/>
            <a:chOff x="0" y="0"/>
            <a:chExt cx="11280371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C6F7-A284-F000-ADC1-A6D4BF685B99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2211430 h 6858000"/>
                <a:gd name="csX3" fmla="*/ 11123812 w 11280371"/>
                <a:gd name="csY3" fmla="*/ 2211430 h 6858000"/>
                <a:gd name="csX4" fmla="*/ 11280371 w 11280371"/>
                <a:gd name="csY4" fmla="*/ 2367989 h 6858000"/>
                <a:gd name="csX5" fmla="*/ 11280371 w 11280371"/>
                <a:gd name="csY5" fmla="*/ 2994209 h 6858000"/>
                <a:gd name="csX6" fmla="*/ 11123812 w 11280371"/>
                <a:gd name="csY6" fmla="*/ 3150768 h 6858000"/>
                <a:gd name="csX7" fmla="*/ 10523913 w 11280371"/>
                <a:gd name="csY7" fmla="*/ 3150768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2211430"/>
                  </a:lnTo>
                  <a:lnTo>
                    <a:pt x="11123812" y="2211430"/>
                  </a:lnTo>
                  <a:cubicBezTo>
                    <a:pt x="11210277" y="2211430"/>
                    <a:pt x="11280371" y="2281524"/>
                    <a:pt x="11280371" y="2367989"/>
                  </a:cubicBezTo>
                  <a:lnTo>
                    <a:pt x="11280371" y="2994209"/>
                  </a:lnTo>
                  <a:cubicBezTo>
                    <a:pt x="11280371" y="3080674"/>
                    <a:pt x="11210277" y="3150768"/>
                    <a:pt x="11123812" y="3150768"/>
                  </a:cubicBezTo>
                  <a:lnTo>
                    <a:pt x="10523913" y="3150768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FD136F-6702-A74B-498E-E59C64332E51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Project structure</a:t>
              </a:r>
            </a:p>
            <a:p>
              <a:r>
                <a:rPr lang="en-US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This project contains a data file, the Tableau file, and this PowerPoint presentation.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66D66B-59D2-20BF-0D71-65AFCE66B900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3E6DB9D-1E7F-C343-F39D-C83E93EE2772}"/>
                </a:ext>
              </a:extLst>
            </p:cNvPr>
            <p:cNvSpPr txBox="1"/>
            <p:nvPr/>
          </p:nvSpPr>
          <p:spPr>
            <a:xfrm>
              <a:off x="10413242" y="2201214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5D6A14E-3264-EB25-179B-BA61322F6EAA}"/>
              </a:ext>
            </a:extLst>
          </p:cNvPr>
          <p:cNvGrpSpPr/>
          <p:nvPr/>
        </p:nvGrpSpPr>
        <p:grpSpPr>
          <a:xfrm>
            <a:off x="-9893677" y="0"/>
            <a:ext cx="11280371" cy="6858000"/>
            <a:chOff x="0" y="0"/>
            <a:chExt cx="11280371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334AA6D-00C0-D6C3-C45E-F03E288C2A94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713115 h 6858000"/>
                <a:gd name="csX3" fmla="*/ 11123812 w 11280371"/>
                <a:gd name="csY3" fmla="*/ 713115 h 6858000"/>
                <a:gd name="csX4" fmla="*/ 11280371 w 11280371"/>
                <a:gd name="csY4" fmla="*/ 869674 h 6858000"/>
                <a:gd name="csX5" fmla="*/ 11280371 w 11280371"/>
                <a:gd name="csY5" fmla="*/ 1495894 h 6858000"/>
                <a:gd name="csX6" fmla="*/ 11123812 w 11280371"/>
                <a:gd name="csY6" fmla="*/ 1652453 h 6858000"/>
                <a:gd name="csX7" fmla="*/ 10523913 w 11280371"/>
                <a:gd name="csY7" fmla="*/ 1652453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713115"/>
                  </a:lnTo>
                  <a:lnTo>
                    <a:pt x="11123812" y="713115"/>
                  </a:lnTo>
                  <a:cubicBezTo>
                    <a:pt x="11210277" y="713115"/>
                    <a:pt x="11280371" y="783209"/>
                    <a:pt x="11280371" y="869674"/>
                  </a:cubicBezTo>
                  <a:lnTo>
                    <a:pt x="11280371" y="1495894"/>
                  </a:lnTo>
                  <a:cubicBezTo>
                    <a:pt x="11280371" y="1582359"/>
                    <a:pt x="11210277" y="1652453"/>
                    <a:pt x="11123812" y="1652453"/>
                  </a:cubicBezTo>
                  <a:lnTo>
                    <a:pt x="10523913" y="1652453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2028202-4E4D-F3C0-AEED-899641C79FD9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BA867C3-CCE4-FECF-CCCD-689E522FF515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04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B29C11C-5131-A4B2-1907-8057AE1B33AD}"/>
                </a:ext>
              </a:extLst>
            </p:cNvPr>
            <p:cNvSpPr txBox="1"/>
            <p:nvPr/>
          </p:nvSpPr>
          <p:spPr>
            <a:xfrm>
              <a:off x="10413242" y="686322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4</a:t>
              </a:r>
            </a:p>
          </p:txBody>
        </p:sp>
        <p:pic>
          <p:nvPicPr>
            <p:cNvPr id="22" name="slide2" descr="Customer Analysis Dashboard">
              <a:extLst>
                <a:ext uri="{FF2B5EF4-FFF2-40B4-BE49-F238E27FC236}">
                  <a16:creationId xmlns:a16="http://schemas.microsoft.com/office/drawing/2014/main" id="{274600EB-10AB-9426-7D04-DCED65263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7812" y="2315407"/>
              <a:ext cx="5927529" cy="3950038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A43AC69-92CF-91B2-26D8-2AC9C26EF852}"/>
              </a:ext>
            </a:extLst>
          </p:cNvPr>
          <p:cNvSpPr txBox="1"/>
          <p:nvPr/>
        </p:nvSpPr>
        <p:spPr>
          <a:xfrm>
            <a:off x="9801062" y="2666679"/>
            <a:ext cx="2257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Lucida Calligraphy" panose="020F0502020204030204" pitchFamily="66" charset="0"/>
              </a:rPr>
              <a:t>Customer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5ECCFA-F14F-CAD4-2482-B333C15ADF7F}"/>
              </a:ext>
            </a:extLst>
          </p:cNvPr>
          <p:cNvSpPr txBox="1"/>
          <p:nvPr/>
        </p:nvSpPr>
        <p:spPr>
          <a:xfrm>
            <a:off x="9801062" y="3077711"/>
            <a:ext cx="2257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0831563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E98E6-81C3-371B-9681-1BAF1AB7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42233CD-713B-36E2-B41B-80288AF39AB8}"/>
              </a:ext>
            </a:extLst>
          </p:cNvPr>
          <p:cNvGrpSpPr/>
          <p:nvPr/>
        </p:nvGrpSpPr>
        <p:grpSpPr>
          <a:xfrm>
            <a:off x="-965200" y="0"/>
            <a:ext cx="11280371" cy="6858000"/>
            <a:chOff x="0" y="0"/>
            <a:chExt cx="11280371" cy="685800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1C8E58F-23A7-8209-05EE-05858B920C48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5208059 h 6858000"/>
                <a:gd name="csX3" fmla="*/ 11123812 w 11280371"/>
                <a:gd name="csY3" fmla="*/ 5208059 h 6858000"/>
                <a:gd name="csX4" fmla="*/ 11280371 w 11280371"/>
                <a:gd name="csY4" fmla="*/ 5364618 h 6858000"/>
                <a:gd name="csX5" fmla="*/ 11280371 w 11280371"/>
                <a:gd name="csY5" fmla="*/ 5990838 h 6858000"/>
                <a:gd name="csX6" fmla="*/ 11123812 w 11280371"/>
                <a:gd name="csY6" fmla="*/ 6147397 h 6858000"/>
                <a:gd name="csX7" fmla="*/ 10523913 w 11280371"/>
                <a:gd name="csY7" fmla="*/ 6147397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5208059"/>
                  </a:lnTo>
                  <a:lnTo>
                    <a:pt x="11123812" y="5208059"/>
                  </a:lnTo>
                  <a:cubicBezTo>
                    <a:pt x="11210277" y="5208059"/>
                    <a:pt x="11280371" y="5278153"/>
                    <a:pt x="11280371" y="5364618"/>
                  </a:cubicBezTo>
                  <a:lnTo>
                    <a:pt x="11280371" y="5990838"/>
                  </a:lnTo>
                  <a:cubicBezTo>
                    <a:pt x="11280371" y="6077303"/>
                    <a:pt x="11210277" y="6147397"/>
                    <a:pt x="11123812" y="6147397"/>
                  </a:cubicBezTo>
                  <a:lnTo>
                    <a:pt x="10523913" y="6147397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/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10475A3-067C-C899-C160-1A65726DFF8A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 requirements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per state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based on month of the year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based on age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Graph Quantity/Discount percent correlation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Show percentage of revenue per region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Show revenue per category per gender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0DD8E7D-1045-4037-0B5C-AA5CBF7F82BE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B3CBA8C-44EB-0510-CB41-4BF297F49AC1}"/>
                </a:ext>
              </a:extLst>
            </p:cNvPr>
            <p:cNvSpPr txBox="1"/>
            <p:nvPr/>
          </p:nvSpPr>
          <p:spPr>
            <a:xfrm>
              <a:off x="10413241" y="5182706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8E7C5AC-E3EC-0EAA-0219-5FB4BDACB2A5}"/>
              </a:ext>
            </a:extLst>
          </p:cNvPr>
          <p:cNvGrpSpPr/>
          <p:nvPr/>
        </p:nvGrpSpPr>
        <p:grpSpPr>
          <a:xfrm>
            <a:off x="-1972859" y="0"/>
            <a:ext cx="11280371" cy="6858000"/>
            <a:chOff x="0" y="0"/>
            <a:chExt cx="11280371" cy="6858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C6B8904-72E9-B9C8-80F7-00D7D2C4AF37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3709745 h 6858000"/>
                <a:gd name="csX3" fmla="*/ 11123812 w 11280371"/>
                <a:gd name="csY3" fmla="*/ 3709745 h 6858000"/>
                <a:gd name="csX4" fmla="*/ 11280371 w 11280371"/>
                <a:gd name="csY4" fmla="*/ 3866304 h 6858000"/>
                <a:gd name="csX5" fmla="*/ 11280371 w 11280371"/>
                <a:gd name="csY5" fmla="*/ 4492524 h 6858000"/>
                <a:gd name="csX6" fmla="*/ 11123812 w 11280371"/>
                <a:gd name="csY6" fmla="*/ 4649083 h 6858000"/>
                <a:gd name="csX7" fmla="*/ 10523913 w 11280371"/>
                <a:gd name="csY7" fmla="*/ 4649083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3709745"/>
                  </a:lnTo>
                  <a:lnTo>
                    <a:pt x="11123812" y="3709745"/>
                  </a:lnTo>
                  <a:cubicBezTo>
                    <a:pt x="11210277" y="3709745"/>
                    <a:pt x="11280371" y="3779839"/>
                    <a:pt x="11280371" y="3866304"/>
                  </a:cubicBezTo>
                  <a:lnTo>
                    <a:pt x="11280371" y="4492524"/>
                  </a:lnTo>
                  <a:cubicBezTo>
                    <a:pt x="11280371" y="4578989"/>
                    <a:pt x="11210277" y="4649083"/>
                    <a:pt x="11123812" y="4649083"/>
                  </a:cubicBezTo>
                  <a:lnTo>
                    <a:pt x="10523913" y="4649083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B34F8B-DAA5-07A9-0C73-E3C0347D8391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 techniques</a:t>
              </a:r>
            </a:p>
            <a:p>
              <a:r>
                <a:rPr lang="en-US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In this Dashboard you will find standard cards like a Map, Bar Chart, Scatter plot, as well as more complex cards like Donut chart and a Butterfly bar chart.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BDD73BC-A867-9491-A411-E3338BD8A3D6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02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54DCC0-F139-6E7B-30B1-0CD83BD85BEC}"/>
                </a:ext>
              </a:extLst>
            </p:cNvPr>
            <p:cNvSpPr txBox="1"/>
            <p:nvPr/>
          </p:nvSpPr>
          <p:spPr>
            <a:xfrm>
              <a:off x="10413242" y="3675182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40B5C0-6D08-FA00-D0AF-6E93F439C366}"/>
              </a:ext>
            </a:extLst>
          </p:cNvPr>
          <p:cNvGrpSpPr/>
          <p:nvPr/>
        </p:nvGrpSpPr>
        <p:grpSpPr>
          <a:xfrm>
            <a:off x="-8886018" y="0"/>
            <a:ext cx="11280371" cy="6858000"/>
            <a:chOff x="0" y="0"/>
            <a:chExt cx="11280371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A509E7E-7772-F2E9-B3DD-3DC31311AE74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2211430 h 6858000"/>
                <a:gd name="csX3" fmla="*/ 11123812 w 11280371"/>
                <a:gd name="csY3" fmla="*/ 2211430 h 6858000"/>
                <a:gd name="csX4" fmla="*/ 11280371 w 11280371"/>
                <a:gd name="csY4" fmla="*/ 2367989 h 6858000"/>
                <a:gd name="csX5" fmla="*/ 11280371 w 11280371"/>
                <a:gd name="csY5" fmla="*/ 2994209 h 6858000"/>
                <a:gd name="csX6" fmla="*/ 11123812 w 11280371"/>
                <a:gd name="csY6" fmla="*/ 3150768 h 6858000"/>
                <a:gd name="csX7" fmla="*/ 10523913 w 11280371"/>
                <a:gd name="csY7" fmla="*/ 3150768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2211430"/>
                  </a:lnTo>
                  <a:lnTo>
                    <a:pt x="11123812" y="2211430"/>
                  </a:lnTo>
                  <a:cubicBezTo>
                    <a:pt x="11210277" y="2211430"/>
                    <a:pt x="11280371" y="2281524"/>
                    <a:pt x="11280371" y="2367989"/>
                  </a:cubicBezTo>
                  <a:lnTo>
                    <a:pt x="11280371" y="2994209"/>
                  </a:lnTo>
                  <a:cubicBezTo>
                    <a:pt x="11280371" y="3080674"/>
                    <a:pt x="11210277" y="3150768"/>
                    <a:pt x="11123812" y="3150768"/>
                  </a:cubicBezTo>
                  <a:lnTo>
                    <a:pt x="10523913" y="3150768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D890DD9-5D68-82A5-AA9B-168DD56E58E4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Project structure</a:t>
              </a:r>
            </a:p>
            <a:p>
              <a:r>
                <a:rPr lang="en-US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This project contains a data file, the Tableau file, and this PowerPoint presentation.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24CEF16-A6A1-8F1C-ECDA-0AA4609A9ED5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196A84A-5086-8E0D-E245-0BBD500FFB55}"/>
                </a:ext>
              </a:extLst>
            </p:cNvPr>
            <p:cNvSpPr txBox="1"/>
            <p:nvPr/>
          </p:nvSpPr>
          <p:spPr>
            <a:xfrm>
              <a:off x="10413242" y="2201214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0DDD9E0-958D-A10D-46A0-0E9034F21B2B}"/>
              </a:ext>
            </a:extLst>
          </p:cNvPr>
          <p:cNvGrpSpPr/>
          <p:nvPr/>
        </p:nvGrpSpPr>
        <p:grpSpPr>
          <a:xfrm>
            <a:off x="-9893677" y="0"/>
            <a:ext cx="11280371" cy="6858000"/>
            <a:chOff x="0" y="0"/>
            <a:chExt cx="11280371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5B8EBEE-0561-78F6-FE68-32CA288719CD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713115 h 6858000"/>
                <a:gd name="csX3" fmla="*/ 11123812 w 11280371"/>
                <a:gd name="csY3" fmla="*/ 713115 h 6858000"/>
                <a:gd name="csX4" fmla="*/ 11280371 w 11280371"/>
                <a:gd name="csY4" fmla="*/ 869674 h 6858000"/>
                <a:gd name="csX5" fmla="*/ 11280371 w 11280371"/>
                <a:gd name="csY5" fmla="*/ 1495894 h 6858000"/>
                <a:gd name="csX6" fmla="*/ 11123812 w 11280371"/>
                <a:gd name="csY6" fmla="*/ 1652453 h 6858000"/>
                <a:gd name="csX7" fmla="*/ 10523913 w 11280371"/>
                <a:gd name="csY7" fmla="*/ 1652453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713115"/>
                  </a:lnTo>
                  <a:lnTo>
                    <a:pt x="11123812" y="713115"/>
                  </a:lnTo>
                  <a:cubicBezTo>
                    <a:pt x="11210277" y="713115"/>
                    <a:pt x="11280371" y="783209"/>
                    <a:pt x="11280371" y="869674"/>
                  </a:cubicBezTo>
                  <a:lnTo>
                    <a:pt x="11280371" y="1495894"/>
                  </a:lnTo>
                  <a:cubicBezTo>
                    <a:pt x="11280371" y="1582359"/>
                    <a:pt x="11210277" y="1652453"/>
                    <a:pt x="11123812" y="1652453"/>
                  </a:cubicBezTo>
                  <a:lnTo>
                    <a:pt x="10523913" y="1652453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7C1FAE-CA2D-D9F4-12F8-3092E7440E8B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14EE26B-36DB-1866-DDA0-B3F818CFA467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04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0C0BA24-7BB6-340A-B911-95F7466E25CA}"/>
                </a:ext>
              </a:extLst>
            </p:cNvPr>
            <p:cNvSpPr txBox="1"/>
            <p:nvPr/>
          </p:nvSpPr>
          <p:spPr>
            <a:xfrm>
              <a:off x="10413242" y="686322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4</a:t>
              </a:r>
            </a:p>
          </p:txBody>
        </p:sp>
        <p:pic>
          <p:nvPicPr>
            <p:cNvPr id="22" name="slide2" descr="Customer Analysis Dashboard">
              <a:extLst>
                <a:ext uri="{FF2B5EF4-FFF2-40B4-BE49-F238E27FC236}">
                  <a16:creationId xmlns:a16="http://schemas.microsoft.com/office/drawing/2014/main" id="{726288BF-EEE2-F3EF-73EB-BB08F89C5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7812" y="2315407"/>
              <a:ext cx="5927529" cy="3950038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8837979-757C-142A-BD78-E41146FA59C3}"/>
              </a:ext>
            </a:extLst>
          </p:cNvPr>
          <p:cNvSpPr txBox="1"/>
          <p:nvPr/>
        </p:nvSpPr>
        <p:spPr>
          <a:xfrm>
            <a:off x="9801062" y="2666679"/>
            <a:ext cx="2257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Lucida Calligraphy" panose="020F0502020204030204" pitchFamily="66" charset="0"/>
              </a:rPr>
              <a:t>Customer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EA5162-7826-5F42-98F9-C6629EE23846}"/>
              </a:ext>
            </a:extLst>
          </p:cNvPr>
          <p:cNvSpPr txBox="1"/>
          <p:nvPr/>
        </p:nvSpPr>
        <p:spPr>
          <a:xfrm>
            <a:off x="9801062" y="3077711"/>
            <a:ext cx="2257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5922045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F1DFB-C29D-1607-F47F-197B00B41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2ABD95E-FAD0-6F69-B47E-D7CC2E343CCA}"/>
              </a:ext>
            </a:extLst>
          </p:cNvPr>
          <p:cNvGrpSpPr/>
          <p:nvPr/>
        </p:nvGrpSpPr>
        <p:grpSpPr>
          <a:xfrm>
            <a:off x="-965200" y="0"/>
            <a:ext cx="11280371" cy="6858000"/>
            <a:chOff x="0" y="0"/>
            <a:chExt cx="11280371" cy="685800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D0DA08C-5328-E7F5-A688-0212B48B869E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5208059 h 6858000"/>
                <a:gd name="csX3" fmla="*/ 11123812 w 11280371"/>
                <a:gd name="csY3" fmla="*/ 5208059 h 6858000"/>
                <a:gd name="csX4" fmla="*/ 11280371 w 11280371"/>
                <a:gd name="csY4" fmla="*/ 5364618 h 6858000"/>
                <a:gd name="csX5" fmla="*/ 11280371 w 11280371"/>
                <a:gd name="csY5" fmla="*/ 5990838 h 6858000"/>
                <a:gd name="csX6" fmla="*/ 11123812 w 11280371"/>
                <a:gd name="csY6" fmla="*/ 6147397 h 6858000"/>
                <a:gd name="csX7" fmla="*/ 10523913 w 11280371"/>
                <a:gd name="csY7" fmla="*/ 6147397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5208059"/>
                  </a:lnTo>
                  <a:lnTo>
                    <a:pt x="11123812" y="5208059"/>
                  </a:lnTo>
                  <a:cubicBezTo>
                    <a:pt x="11210277" y="5208059"/>
                    <a:pt x="11280371" y="5278153"/>
                    <a:pt x="11280371" y="5364618"/>
                  </a:cubicBezTo>
                  <a:lnTo>
                    <a:pt x="11280371" y="5990838"/>
                  </a:lnTo>
                  <a:cubicBezTo>
                    <a:pt x="11280371" y="6077303"/>
                    <a:pt x="11210277" y="6147397"/>
                    <a:pt x="11123812" y="6147397"/>
                  </a:cubicBezTo>
                  <a:lnTo>
                    <a:pt x="10523913" y="6147397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/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AC510B4-58F5-848C-4A29-9CC763FABFE1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 requirements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per state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based on month of the year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based on age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Graph Quantity/Discount percent correlation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Show percentage of revenue per region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Show revenue per category per gender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C588990-C49B-B872-8A7D-51AFEF5459A0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C4CD1F4-88B0-BE95-A230-D6A8ED6FE8C4}"/>
                </a:ext>
              </a:extLst>
            </p:cNvPr>
            <p:cNvSpPr txBox="1"/>
            <p:nvPr/>
          </p:nvSpPr>
          <p:spPr>
            <a:xfrm>
              <a:off x="10413241" y="5182706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F5F0453-DD61-F2C2-774F-94C36829DA94}"/>
              </a:ext>
            </a:extLst>
          </p:cNvPr>
          <p:cNvGrpSpPr/>
          <p:nvPr/>
        </p:nvGrpSpPr>
        <p:grpSpPr>
          <a:xfrm>
            <a:off x="-1972859" y="0"/>
            <a:ext cx="11280371" cy="6858000"/>
            <a:chOff x="0" y="0"/>
            <a:chExt cx="11280371" cy="6858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5257D3B-68DE-4A4E-6A4A-18D535DEEB29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3709745 h 6858000"/>
                <a:gd name="csX3" fmla="*/ 11123812 w 11280371"/>
                <a:gd name="csY3" fmla="*/ 3709745 h 6858000"/>
                <a:gd name="csX4" fmla="*/ 11280371 w 11280371"/>
                <a:gd name="csY4" fmla="*/ 3866304 h 6858000"/>
                <a:gd name="csX5" fmla="*/ 11280371 w 11280371"/>
                <a:gd name="csY5" fmla="*/ 4492524 h 6858000"/>
                <a:gd name="csX6" fmla="*/ 11123812 w 11280371"/>
                <a:gd name="csY6" fmla="*/ 4649083 h 6858000"/>
                <a:gd name="csX7" fmla="*/ 10523913 w 11280371"/>
                <a:gd name="csY7" fmla="*/ 4649083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3709745"/>
                  </a:lnTo>
                  <a:lnTo>
                    <a:pt x="11123812" y="3709745"/>
                  </a:lnTo>
                  <a:cubicBezTo>
                    <a:pt x="11210277" y="3709745"/>
                    <a:pt x="11280371" y="3779839"/>
                    <a:pt x="11280371" y="3866304"/>
                  </a:cubicBezTo>
                  <a:lnTo>
                    <a:pt x="11280371" y="4492524"/>
                  </a:lnTo>
                  <a:cubicBezTo>
                    <a:pt x="11280371" y="4578989"/>
                    <a:pt x="11210277" y="4649083"/>
                    <a:pt x="11123812" y="4649083"/>
                  </a:cubicBezTo>
                  <a:lnTo>
                    <a:pt x="10523913" y="4649083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22B0513-CB7E-246E-392C-78108CE365A9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 techniques</a:t>
              </a:r>
            </a:p>
            <a:p>
              <a:r>
                <a:rPr lang="en-US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In this Dashboard you will find standard cards like a Map, Bar Chart, Scatter plot, as well as more complex cards like Donut chart and a Butterfly bar chart.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216557-592E-198A-C437-0FD10D871D6E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02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D6605B-3744-94E2-F235-BB1E4B3B2754}"/>
                </a:ext>
              </a:extLst>
            </p:cNvPr>
            <p:cNvSpPr txBox="1"/>
            <p:nvPr/>
          </p:nvSpPr>
          <p:spPr>
            <a:xfrm>
              <a:off x="10413242" y="3675182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D0689EF-C81D-E950-9090-C48ACB40F32B}"/>
              </a:ext>
            </a:extLst>
          </p:cNvPr>
          <p:cNvGrpSpPr/>
          <p:nvPr/>
        </p:nvGrpSpPr>
        <p:grpSpPr>
          <a:xfrm>
            <a:off x="-2980518" y="0"/>
            <a:ext cx="11280371" cy="6858000"/>
            <a:chOff x="0" y="0"/>
            <a:chExt cx="11280371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3B426-A798-DF5D-F470-A16497B8357F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2211430 h 6858000"/>
                <a:gd name="csX3" fmla="*/ 11123812 w 11280371"/>
                <a:gd name="csY3" fmla="*/ 2211430 h 6858000"/>
                <a:gd name="csX4" fmla="*/ 11280371 w 11280371"/>
                <a:gd name="csY4" fmla="*/ 2367989 h 6858000"/>
                <a:gd name="csX5" fmla="*/ 11280371 w 11280371"/>
                <a:gd name="csY5" fmla="*/ 2994209 h 6858000"/>
                <a:gd name="csX6" fmla="*/ 11123812 w 11280371"/>
                <a:gd name="csY6" fmla="*/ 3150768 h 6858000"/>
                <a:gd name="csX7" fmla="*/ 10523913 w 11280371"/>
                <a:gd name="csY7" fmla="*/ 3150768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2211430"/>
                  </a:lnTo>
                  <a:lnTo>
                    <a:pt x="11123812" y="2211430"/>
                  </a:lnTo>
                  <a:cubicBezTo>
                    <a:pt x="11210277" y="2211430"/>
                    <a:pt x="11280371" y="2281524"/>
                    <a:pt x="11280371" y="2367989"/>
                  </a:cubicBezTo>
                  <a:lnTo>
                    <a:pt x="11280371" y="2994209"/>
                  </a:lnTo>
                  <a:cubicBezTo>
                    <a:pt x="11280371" y="3080674"/>
                    <a:pt x="11210277" y="3150768"/>
                    <a:pt x="11123812" y="3150768"/>
                  </a:cubicBezTo>
                  <a:lnTo>
                    <a:pt x="10523913" y="3150768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F6FC2A2-AFEB-F37A-E1A2-5FC67B20F08B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Project structure</a:t>
              </a:r>
            </a:p>
            <a:p>
              <a:r>
                <a:rPr lang="en-US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This project contains a data file, the Tableau file, and this PowerPoint presentation.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1A0D9B-0CED-9D09-D89F-FAF1CE9F7610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A5392E-2B01-2B87-64B7-4A47EEDEC013}"/>
                </a:ext>
              </a:extLst>
            </p:cNvPr>
            <p:cNvSpPr txBox="1"/>
            <p:nvPr/>
          </p:nvSpPr>
          <p:spPr>
            <a:xfrm>
              <a:off x="10413242" y="2201214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183E8F-7BAC-4DD8-D598-56D0E77B6B67}"/>
              </a:ext>
            </a:extLst>
          </p:cNvPr>
          <p:cNvGrpSpPr/>
          <p:nvPr/>
        </p:nvGrpSpPr>
        <p:grpSpPr>
          <a:xfrm>
            <a:off x="-9893677" y="0"/>
            <a:ext cx="11280371" cy="6858000"/>
            <a:chOff x="0" y="0"/>
            <a:chExt cx="11280371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594F62C-A5FC-77B2-4C95-E4F3D8AA2905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713115 h 6858000"/>
                <a:gd name="csX3" fmla="*/ 11123812 w 11280371"/>
                <a:gd name="csY3" fmla="*/ 713115 h 6858000"/>
                <a:gd name="csX4" fmla="*/ 11280371 w 11280371"/>
                <a:gd name="csY4" fmla="*/ 869674 h 6858000"/>
                <a:gd name="csX5" fmla="*/ 11280371 w 11280371"/>
                <a:gd name="csY5" fmla="*/ 1495894 h 6858000"/>
                <a:gd name="csX6" fmla="*/ 11123812 w 11280371"/>
                <a:gd name="csY6" fmla="*/ 1652453 h 6858000"/>
                <a:gd name="csX7" fmla="*/ 10523913 w 11280371"/>
                <a:gd name="csY7" fmla="*/ 1652453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713115"/>
                  </a:lnTo>
                  <a:lnTo>
                    <a:pt x="11123812" y="713115"/>
                  </a:lnTo>
                  <a:cubicBezTo>
                    <a:pt x="11210277" y="713115"/>
                    <a:pt x="11280371" y="783209"/>
                    <a:pt x="11280371" y="869674"/>
                  </a:cubicBezTo>
                  <a:lnTo>
                    <a:pt x="11280371" y="1495894"/>
                  </a:lnTo>
                  <a:cubicBezTo>
                    <a:pt x="11280371" y="1582359"/>
                    <a:pt x="11210277" y="1652453"/>
                    <a:pt x="11123812" y="1652453"/>
                  </a:cubicBezTo>
                  <a:lnTo>
                    <a:pt x="10523913" y="1652453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5AA601-0CA7-3765-2904-5D595E1C731D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3802BB-42B2-6B96-D73F-61922F65E910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04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E42B3FC-739E-2178-3B5D-9B7F96826227}"/>
                </a:ext>
              </a:extLst>
            </p:cNvPr>
            <p:cNvSpPr txBox="1"/>
            <p:nvPr/>
          </p:nvSpPr>
          <p:spPr>
            <a:xfrm>
              <a:off x="10413242" y="686322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4</a:t>
              </a:r>
            </a:p>
          </p:txBody>
        </p:sp>
        <p:pic>
          <p:nvPicPr>
            <p:cNvPr id="22" name="slide2" descr="Customer Analysis Dashboard">
              <a:extLst>
                <a:ext uri="{FF2B5EF4-FFF2-40B4-BE49-F238E27FC236}">
                  <a16:creationId xmlns:a16="http://schemas.microsoft.com/office/drawing/2014/main" id="{1166AEF6-BB68-F8FA-BFDB-976973283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7812" y="2315407"/>
              <a:ext cx="5927529" cy="3950038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F219D86-C27E-C6A3-E8FB-A37B3E0113A0}"/>
              </a:ext>
            </a:extLst>
          </p:cNvPr>
          <p:cNvSpPr txBox="1"/>
          <p:nvPr/>
        </p:nvSpPr>
        <p:spPr>
          <a:xfrm>
            <a:off x="9801062" y="2666679"/>
            <a:ext cx="2257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Lucida Calligraphy" panose="020F0502020204030204" pitchFamily="66" charset="0"/>
              </a:rPr>
              <a:t>Customer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C3BD35-4826-8D15-5685-D32F69390529}"/>
              </a:ext>
            </a:extLst>
          </p:cNvPr>
          <p:cNvSpPr txBox="1"/>
          <p:nvPr/>
        </p:nvSpPr>
        <p:spPr>
          <a:xfrm>
            <a:off x="9801062" y="3077711"/>
            <a:ext cx="2257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8505536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9A64C-130D-96A0-221A-2E4AA551C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B56716A-AD3D-34DF-3BF4-EEA18899F95D}"/>
              </a:ext>
            </a:extLst>
          </p:cNvPr>
          <p:cNvGrpSpPr/>
          <p:nvPr/>
        </p:nvGrpSpPr>
        <p:grpSpPr>
          <a:xfrm>
            <a:off x="-965200" y="0"/>
            <a:ext cx="11280371" cy="6858000"/>
            <a:chOff x="0" y="0"/>
            <a:chExt cx="11280371" cy="685800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8254A35-DF87-62A9-64BC-633FD817C306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5208059 h 6858000"/>
                <a:gd name="csX3" fmla="*/ 11123812 w 11280371"/>
                <a:gd name="csY3" fmla="*/ 5208059 h 6858000"/>
                <a:gd name="csX4" fmla="*/ 11280371 w 11280371"/>
                <a:gd name="csY4" fmla="*/ 5364618 h 6858000"/>
                <a:gd name="csX5" fmla="*/ 11280371 w 11280371"/>
                <a:gd name="csY5" fmla="*/ 5990838 h 6858000"/>
                <a:gd name="csX6" fmla="*/ 11123812 w 11280371"/>
                <a:gd name="csY6" fmla="*/ 6147397 h 6858000"/>
                <a:gd name="csX7" fmla="*/ 10523913 w 11280371"/>
                <a:gd name="csY7" fmla="*/ 6147397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5208059"/>
                  </a:lnTo>
                  <a:lnTo>
                    <a:pt x="11123812" y="5208059"/>
                  </a:lnTo>
                  <a:cubicBezTo>
                    <a:pt x="11210277" y="5208059"/>
                    <a:pt x="11280371" y="5278153"/>
                    <a:pt x="11280371" y="5364618"/>
                  </a:cubicBezTo>
                  <a:lnTo>
                    <a:pt x="11280371" y="5990838"/>
                  </a:lnTo>
                  <a:cubicBezTo>
                    <a:pt x="11280371" y="6077303"/>
                    <a:pt x="11210277" y="6147397"/>
                    <a:pt x="11123812" y="6147397"/>
                  </a:cubicBezTo>
                  <a:lnTo>
                    <a:pt x="10523913" y="6147397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/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FAD0664-316C-29F0-B0F6-F955822391AA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 requirements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per state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based on month of the year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based on age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Graph Quantity/Discount percent correlation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Show percentage of revenue per region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Show revenue per category per gender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A3F6ED2-B29E-5B3B-B07F-320F622E4D43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6884590-9C79-C054-91B4-9EBC864A911D}"/>
                </a:ext>
              </a:extLst>
            </p:cNvPr>
            <p:cNvSpPr txBox="1"/>
            <p:nvPr/>
          </p:nvSpPr>
          <p:spPr>
            <a:xfrm>
              <a:off x="10413241" y="5182706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A9859A2-90D3-7792-F955-367FCC8D7839}"/>
              </a:ext>
            </a:extLst>
          </p:cNvPr>
          <p:cNvGrpSpPr/>
          <p:nvPr/>
        </p:nvGrpSpPr>
        <p:grpSpPr>
          <a:xfrm>
            <a:off x="-1972859" y="0"/>
            <a:ext cx="11280371" cy="6858000"/>
            <a:chOff x="0" y="0"/>
            <a:chExt cx="11280371" cy="6858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B104CCB-B694-3015-D09B-AACF749ECEA7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3709745 h 6858000"/>
                <a:gd name="csX3" fmla="*/ 11123812 w 11280371"/>
                <a:gd name="csY3" fmla="*/ 3709745 h 6858000"/>
                <a:gd name="csX4" fmla="*/ 11280371 w 11280371"/>
                <a:gd name="csY4" fmla="*/ 3866304 h 6858000"/>
                <a:gd name="csX5" fmla="*/ 11280371 w 11280371"/>
                <a:gd name="csY5" fmla="*/ 4492524 h 6858000"/>
                <a:gd name="csX6" fmla="*/ 11123812 w 11280371"/>
                <a:gd name="csY6" fmla="*/ 4649083 h 6858000"/>
                <a:gd name="csX7" fmla="*/ 10523913 w 11280371"/>
                <a:gd name="csY7" fmla="*/ 4649083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3709745"/>
                  </a:lnTo>
                  <a:lnTo>
                    <a:pt x="11123812" y="3709745"/>
                  </a:lnTo>
                  <a:cubicBezTo>
                    <a:pt x="11210277" y="3709745"/>
                    <a:pt x="11280371" y="3779839"/>
                    <a:pt x="11280371" y="3866304"/>
                  </a:cubicBezTo>
                  <a:lnTo>
                    <a:pt x="11280371" y="4492524"/>
                  </a:lnTo>
                  <a:cubicBezTo>
                    <a:pt x="11280371" y="4578989"/>
                    <a:pt x="11210277" y="4649083"/>
                    <a:pt x="11123812" y="4649083"/>
                  </a:cubicBezTo>
                  <a:lnTo>
                    <a:pt x="10523913" y="4649083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C86DC0-7545-2381-26B3-B9D06290ED73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 techniques</a:t>
              </a:r>
            </a:p>
            <a:p>
              <a:r>
                <a:rPr lang="en-US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In this Dashboard you will find standard cards like a Map, Bar Chart, Scatter plot, as well as more complex cards like Donut chart and a Butterfly bar chart.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BAEFEC-C635-E130-FEBB-9B53FFCABF7A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02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1C4071-A5AB-F8A1-E3CD-BDC0F6582EA4}"/>
                </a:ext>
              </a:extLst>
            </p:cNvPr>
            <p:cNvSpPr txBox="1"/>
            <p:nvPr/>
          </p:nvSpPr>
          <p:spPr>
            <a:xfrm>
              <a:off x="10413242" y="3675182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B68694-34BD-67F9-F935-F8F466BB3B9A}"/>
              </a:ext>
            </a:extLst>
          </p:cNvPr>
          <p:cNvGrpSpPr/>
          <p:nvPr/>
        </p:nvGrpSpPr>
        <p:grpSpPr>
          <a:xfrm>
            <a:off x="-2980518" y="0"/>
            <a:ext cx="11280371" cy="6858000"/>
            <a:chOff x="0" y="0"/>
            <a:chExt cx="11280371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0AAE967-2E65-0D3C-78DD-C74155E59C5B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2211430 h 6858000"/>
                <a:gd name="csX3" fmla="*/ 11123812 w 11280371"/>
                <a:gd name="csY3" fmla="*/ 2211430 h 6858000"/>
                <a:gd name="csX4" fmla="*/ 11280371 w 11280371"/>
                <a:gd name="csY4" fmla="*/ 2367989 h 6858000"/>
                <a:gd name="csX5" fmla="*/ 11280371 w 11280371"/>
                <a:gd name="csY5" fmla="*/ 2994209 h 6858000"/>
                <a:gd name="csX6" fmla="*/ 11123812 w 11280371"/>
                <a:gd name="csY6" fmla="*/ 3150768 h 6858000"/>
                <a:gd name="csX7" fmla="*/ 10523913 w 11280371"/>
                <a:gd name="csY7" fmla="*/ 3150768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2211430"/>
                  </a:lnTo>
                  <a:lnTo>
                    <a:pt x="11123812" y="2211430"/>
                  </a:lnTo>
                  <a:cubicBezTo>
                    <a:pt x="11210277" y="2211430"/>
                    <a:pt x="11280371" y="2281524"/>
                    <a:pt x="11280371" y="2367989"/>
                  </a:cubicBezTo>
                  <a:lnTo>
                    <a:pt x="11280371" y="2994209"/>
                  </a:lnTo>
                  <a:cubicBezTo>
                    <a:pt x="11280371" y="3080674"/>
                    <a:pt x="11210277" y="3150768"/>
                    <a:pt x="11123812" y="3150768"/>
                  </a:cubicBezTo>
                  <a:lnTo>
                    <a:pt x="10523913" y="3150768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292AA6-B792-A006-F004-9503B7AA0ADB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Project structure</a:t>
              </a:r>
            </a:p>
            <a:p>
              <a:r>
                <a:rPr lang="en-US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This project contains a data file, the Tableau file, and this PowerPoint presentation.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52EA397-423E-4552-6D0A-186A76BAECC0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0B6F2A-E988-8AB6-7049-CF4EF7A73B17}"/>
                </a:ext>
              </a:extLst>
            </p:cNvPr>
            <p:cNvSpPr txBox="1"/>
            <p:nvPr/>
          </p:nvSpPr>
          <p:spPr>
            <a:xfrm>
              <a:off x="10413242" y="2201214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6EBF184-97B3-8CB7-BBD8-A9F7D8F62410}"/>
              </a:ext>
            </a:extLst>
          </p:cNvPr>
          <p:cNvGrpSpPr/>
          <p:nvPr/>
        </p:nvGrpSpPr>
        <p:grpSpPr>
          <a:xfrm>
            <a:off x="-3988177" y="0"/>
            <a:ext cx="11280371" cy="6858000"/>
            <a:chOff x="0" y="0"/>
            <a:chExt cx="11280371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6609550-4E06-5D90-4426-3F3EE9A5CC9C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713115 h 6858000"/>
                <a:gd name="csX3" fmla="*/ 11123812 w 11280371"/>
                <a:gd name="csY3" fmla="*/ 713115 h 6858000"/>
                <a:gd name="csX4" fmla="*/ 11280371 w 11280371"/>
                <a:gd name="csY4" fmla="*/ 869674 h 6858000"/>
                <a:gd name="csX5" fmla="*/ 11280371 w 11280371"/>
                <a:gd name="csY5" fmla="*/ 1495894 h 6858000"/>
                <a:gd name="csX6" fmla="*/ 11123812 w 11280371"/>
                <a:gd name="csY6" fmla="*/ 1652453 h 6858000"/>
                <a:gd name="csX7" fmla="*/ 10523913 w 11280371"/>
                <a:gd name="csY7" fmla="*/ 1652453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713115"/>
                  </a:lnTo>
                  <a:lnTo>
                    <a:pt x="11123812" y="713115"/>
                  </a:lnTo>
                  <a:cubicBezTo>
                    <a:pt x="11210277" y="713115"/>
                    <a:pt x="11280371" y="783209"/>
                    <a:pt x="11280371" y="869674"/>
                  </a:cubicBezTo>
                  <a:lnTo>
                    <a:pt x="11280371" y="1495894"/>
                  </a:lnTo>
                  <a:cubicBezTo>
                    <a:pt x="11280371" y="1582359"/>
                    <a:pt x="11210277" y="1652453"/>
                    <a:pt x="11123812" y="1652453"/>
                  </a:cubicBezTo>
                  <a:lnTo>
                    <a:pt x="10523913" y="1652453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4103CC0-354A-47BD-3162-4E7F55DDBD78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37B042C-82A1-64B2-6B46-FBF855E0FA47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04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35E0C3B-B41E-332C-8FDE-E388AA80497E}"/>
                </a:ext>
              </a:extLst>
            </p:cNvPr>
            <p:cNvSpPr txBox="1"/>
            <p:nvPr/>
          </p:nvSpPr>
          <p:spPr>
            <a:xfrm>
              <a:off x="10413242" y="686322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4</a:t>
              </a:r>
            </a:p>
          </p:txBody>
        </p:sp>
        <p:pic>
          <p:nvPicPr>
            <p:cNvPr id="22" name="slide2" descr="Customer Analysis Dashboard">
              <a:extLst>
                <a:ext uri="{FF2B5EF4-FFF2-40B4-BE49-F238E27FC236}">
                  <a16:creationId xmlns:a16="http://schemas.microsoft.com/office/drawing/2014/main" id="{63E59F1B-6C88-E14F-5D9A-900FF6728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2899" y="2479600"/>
              <a:ext cx="5400401" cy="3598766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23AF335-4CE3-FC3A-043B-6346C1B64167}"/>
              </a:ext>
            </a:extLst>
          </p:cNvPr>
          <p:cNvSpPr txBox="1"/>
          <p:nvPr/>
        </p:nvSpPr>
        <p:spPr>
          <a:xfrm>
            <a:off x="9801062" y="2666679"/>
            <a:ext cx="2257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Lucida Calligraphy" panose="020F0502020204030204" pitchFamily="66" charset="0"/>
              </a:rPr>
              <a:t>Customer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A87C88-025B-7409-8EF5-814127F70168}"/>
              </a:ext>
            </a:extLst>
          </p:cNvPr>
          <p:cNvSpPr txBox="1"/>
          <p:nvPr/>
        </p:nvSpPr>
        <p:spPr>
          <a:xfrm>
            <a:off x="9801062" y="3077711"/>
            <a:ext cx="2257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Lucida Console" panose="020B0609040504020204" pitchFamily="49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1812383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C289FC-F7F4-15BE-16B3-A375ED065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1A9E83C-7F60-B49E-C3DB-1FC3D5CBA6EA}"/>
              </a:ext>
            </a:extLst>
          </p:cNvPr>
          <p:cNvGrpSpPr/>
          <p:nvPr/>
        </p:nvGrpSpPr>
        <p:grpSpPr>
          <a:xfrm>
            <a:off x="0" y="0"/>
            <a:ext cx="11280371" cy="6858000"/>
            <a:chOff x="0" y="0"/>
            <a:chExt cx="11280371" cy="685800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450E019-7E71-ABC3-10FF-DAB0E0E84EC6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5208059 h 6858000"/>
                <a:gd name="csX3" fmla="*/ 11123812 w 11280371"/>
                <a:gd name="csY3" fmla="*/ 5208059 h 6858000"/>
                <a:gd name="csX4" fmla="*/ 11280371 w 11280371"/>
                <a:gd name="csY4" fmla="*/ 5364618 h 6858000"/>
                <a:gd name="csX5" fmla="*/ 11280371 w 11280371"/>
                <a:gd name="csY5" fmla="*/ 5990838 h 6858000"/>
                <a:gd name="csX6" fmla="*/ 11123812 w 11280371"/>
                <a:gd name="csY6" fmla="*/ 6147397 h 6858000"/>
                <a:gd name="csX7" fmla="*/ 10523913 w 11280371"/>
                <a:gd name="csY7" fmla="*/ 6147397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5208059"/>
                  </a:lnTo>
                  <a:lnTo>
                    <a:pt x="11123812" y="5208059"/>
                  </a:lnTo>
                  <a:cubicBezTo>
                    <a:pt x="11210277" y="5208059"/>
                    <a:pt x="11280371" y="5278153"/>
                    <a:pt x="11280371" y="5364618"/>
                  </a:cubicBezTo>
                  <a:lnTo>
                    <a:pt x="11280371" y="5990838"/>
                  </a:lnTo>
                  <a:cubicBezTo>
                    <a:pt x="11280371" y="6077303"/>
                    <a:pt x="11210277" y="6147397"/>
                    <a:pt x="11123812" y="6147397"/>
                  </a:cubicBezTo>
                  <a:lnTo>
                    <a:pt x="10523913" y="6147397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/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5FA4F2C-2229-9AE5-C9A1-B0FC295ABCB0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 requirements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per state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based on month of the year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Display revenue based on age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Graph Quantity/Discount percent correlation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Show percentage of revenue per region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Show revenue per category per gender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5226685-235C-4E24-B881-6D127A8FD053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8D6F35-9DFB-2265-383F-011ABC2A47AC}"/>
                </a:ext>
              </a:extLst>
            </p:cNvPr>
            <p:cNvSpPr txBox="1"/>
            <p:nvPr/>
          </p:nvSpPr>
          <p:spPr>
            <a:xfrm>
              <a:off x="10413241" y="5182706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20000"/>
                      <a:lumOff val="80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9574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917F83E-3A34-21DE-17FD-4234C14A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3D46722-9EED-E307-4E7D-20CAEB8430AA}"/>
              </a:ext>
            </a:extLst>
          </p:cNvPr>
          <p:cNvGrpSpPr/>
          <p:nvPr/>
        </p:nvGrpSpPr>
        <p:grpSpPr>
          <a:xfrm>
            <a:off x="0" y="0"/>
            <a:ext cx="11280371" cy="6858000"/>
            <a:chOff x="0" y="0"/>
            <a:chExt cx="11280371" cy="6858000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B321DB2B-9329-AC95-EC8B-FA76F4F3082D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3709745 h 6858000"/>
                <a:gd name="csX3" fmla="*/ 11123812 w 11280371"/>
                <a:gd name="csY3" fmla="*/ 3709745 h 6858000"/>
                <a:gd name="csX4" fmla="*/ 11280371 w 11280371"/>
                <a:gd name="csY4" fmla="*/ 3866304 h 6858000"/>
                <a:gd name="csX5" fmla="*/ 11280371 w 11280371"/>
                <a:gd name="csY5" fmla="*/ 4492524 h 6858000"/>
                <a:gd name="csX6" fmla="*/ 11123812 w 11280371"/>
                <a:gd name="csY6" fmla="*/ 4649083 h 6858000"/>
                <a:gd name="csX7" fmla="*/ 10523913 w 11280371"/>
                <a:gd name="csY7" fmla="*/ 4649083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3709745"/>
                  </a:lnTo>
                  <a:lnTo>
                    <a:pt x="11123812" y="3709745"/>
                  </a:lnTo>
                  <a:cubicBezTo>
                    <a:pt x="11210277" y="3709745"/>
                    <a:pt x="11280371" y="3779839"/>
                    <a:pt x="11280371" y="3866304"/>
                  </a:cubicBezTo>
                  <a:lnTo>
                    <a:pt x="11280371" y="4492524"/>
                  </a:lnTo>
                  <a:cubicBezTo>
                    <a:pt x="11280371" y="4578989"/>
                    <a:pt x="11210277" y="4649083"/>
                    <a:pt x="11123812" y="4649083"/>
                  </a:cubicBezTo>
                  <a:lnTo>
                    <a:pt x="10523913" y="4649083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AC8A423-4D1A-B85A-B596-BB19E2298A2A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 techniques</a:t>
              </a:r>
            </a:p>
            <a:p>
              <a:r>
                <a:rPr lang="en-US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In this Dashboard you will find standard cards like a Map, Bar Chart, Scatter plot, as well as more complex cards like Donut chart and a Butterfly bar chart.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556772E-0568-0CAC-1AF0-A547F37FF8EF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02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FC217F-6F1F-5849-3B21-12CF2C162190}"/>
                </a:ext>
              </a:extLst>
            </p:cNvPr>
            <p:cNvSpPr txBox="1"/>
            <p:nvPr/>
          </p:nvSpPr>
          <p:spPr>
            <a:xfrm>
              <a:off x="10413242" y="3675182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>
                      <a:alpha val="55000"/>
                    </a:schemeClr>
                  </a:solidFill>
                  <a:latin typeface="Lucida Console" panose="020B0609040504020204" pitchFamily="49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4308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153FFCC-08B8-4210-4818-A7F10743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4D6900F-45ED-949E-6663-D8D1E6F00DE1}"/>
              </a:ext>
            </a:extLst>
          </p:cNvPr>
          <p:cNvGrpSpPr/>
          <p:nvPr/>
        </p:nvGrpSpPr>
        <p:grpSpPr>
          <a:xfrm>
            <a:off x="0" y="0"/>
            <a:ext cx="11280371" cy="6858000"/>
            <a:chOff x="0" y="0"/>
            <a:chExt cx="11280371" cy="6858000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EE868E2D-0C23-20E1-8908-71223DBD56B9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2211430 h 6858000"/>
                <a:gd name="csX3" fmla="*/ 11123812 w 11280371"/>
                <a:gd name="csY3" fmla="*/ 2211430 h 6858000"/>
                <a:gd name="csX4" fmla="*/ 11280371 w 11280371"/>
                <a:gd name="csY4" fmla="*/ 2367989 h 6858000"/>
                <a:gd name="csX5" fmla="*/ 11280371 w 11280371"/>
                <a:gd name="csY5" fmla="*/ 2994209 h 6858000"/>
                <a:gd name="csX6" fmla="*/ 11123812 w 11280371"/>
                <a:gd name="csY6" fmla="*/ 3150768 h 6858000"/>
                <a:gd name="csX7" fmla="*/ 10523913 w 11280371"/>
                <a:gd name="csY7" fmla="*/ 3150768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2211430"/>
                  </a:lnTo>
                  <a:lnTo>
                    <a:pt x="11123812" y="2211430"/>
                  </a:lnTo>
                  <a:cubicBezTo>
                    <a:pt x="11210277" y="2211430"/>
                    <a:pt x="11280371" y="2281524"/>
                    <a:pt x="11280371" y="2367989"/>
                  </a:cubicBezTo>
                  <a:lnTo>
                    <a:pt x="11280371" y="2994209"/>
                  </a:lnTo>
                  <a:cubicBezTo>
                    <a:pt x="11280371" y="3080674"/>
                    <a:pt x="11210277" y="3150768"/>
                    <a:pt x="11123812" y="3150768"/>
                  </a:cubicBezTo>
                  <a:lnTo>
                    <a:pt x="10523913" y="3150768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E80BA1D-A950-29F8-BED3-CDD7429CB5BE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Project structure</a:t>
              </a:r>
            </a:p>
            <a:p>
              <a:r>
                <a:rPr lang="en-US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This project contains a data file, the Tableau file, and this PowerPoint presentation.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F7DD15-AA49-2ED4-EFE6-79504EF72D85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03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CB11EB2-5201-8B0D-9A99-EBE29DEB2D88}"/>
                </a:ext>
              </a:extLst>
            </p:cNvPr>
            <p:cNvSpPr txBox="1"/>
            <p:nvPr/>
          </p:nvSpPr>
          <p:spPr>
            <a:xfrm>
              <a:off x="10413242" y="2201214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5788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339AEB8-903A-0C79-B20D-FA935C966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0161F0F-D25A-BDF3-9D73-39FDB81EE0B0}"/>
              </a:ext>
            </a:extLst>
          </p:cNvPr>
          <p:cNvGrpSpPr/>
          <p:nvPr/>
        </p:nvGrpSpPr>
        <p:grpSpPr>
          <a:xfrm>
            <a:off x="0" y="0"/>
            <a:ext cx="11280371" cy="6858000"/>
            <a:chOff x="0" y="0"/>
            <a:chExt cx="11280371" cy="6858000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69FA469F-9355-538B-AEA8-7D91FC449F6E}"/>
                </a:ext>
              </a:extLst>
            </p:cNvPr>
            <p:cNvSpPr/>
            <p:nvPr/>
          </p:nvSpPr>
          <p:spPr>
            <a:xfrm>
              <a:off x="0" y="0"/>
              <a:ext cx="11280371" cy="6858000"/>
            </a:xfrm>
            <a:custGeom>
              <a:avLst/>
              <a:gdLst>
                <a:gd name="csX0" fmla="*/ 0 w 11280371"/>
                <a:gd name="csY0" fmla="*/ 0 h 6858000"/>
                <a:gd name="csX1" fmla="*/ 10523913 w 11280371"/>
                <a:gd name="csY1" fmla="*/ 0 h 6858000"/>
                <a:gd name="csX2" fmla="*/ 10523913 w 11280371"/>
                <a:gd name="csY2" fmla="*/ 713115 h 6858000"/>
                <a:gd name="csX3" fmla="*/ 11123812 w 11280371"/>
                <a:gd name="csY3" fmla="*/ 713115 h 6858000"/>
                <a:gd name="csX4" fmla="*/ 11280371 w 11280371"/>
                <a:gd name="csY4" fmla="*/ 869674 h 6858000"/>
                <a:gd name="csX5" fmla="*/ 11280371 w 11280371"/>
                <a:gd name="csY5" fmla="*/ 1495894 h 6858000"/>
                <a:gd name="csX6" fmla="*/ 11123812 w 11280371"/>
                <a:gd name="csY6" fmla="*/ 1652453 h 6858000"/>
                <a:gd name="csX7" fmla="*/ 10523913 w 11280371"/>
                <a:gd name="csY7" fmla="*/ 1652453 h 6858000"/>
                <a:gd name="csX8" fmla="*/ 10523913 w 11280371"/>
                <a:gd name="csY8" fmla="*/ 6858000 h 6858000"/>
                <a:gd name="csX9" fmla="*/ 0 w 11280371"/>
                <a:gd name="csY9" fmla="*/ 685800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280371" h="6858000">
                  <a:moveTo>
                    <a:pt x="0" y="0"/>
                  </a:moveTo>
                  <a:lnTo>
                    <a:pt x="10523913" y="0"/>
                  </a:lnTo>
                  <a:lnTo>
                    <a:pt x="10523913" y="713115"/>
                  </a:lnTo>
                  <a:lnTo>
                    <a:pt x="11123812" y="713115"/>
                  </a:lnTo>
                  <a:cubicBezTo>
                    <a:pt x="11210277" y="713115"/>
                    <a:pt x="11280371" y="783209"/>
                    <a:pt x="11280371" y="869674"/>
                  </a:cubicBezTo>
                  <a:lnTo>
                    <a:pt x="11280371" y="1495894"/>
                  </a:lnTo>
                  <a:cubicBezTo>
                    <a:pt x="11280371" y="1582359"/>
                    <a:pt x="11210277" y="1652453"/>
                    <a:pt x="11123812" y="1652453"/>
                  </a:cubicBezTo>
                  <a:lnTo>
                    <a:pt x="10523913" y="1652453"/>
                  </a:lnTo>
                  <a:lnTo>
                    <a:pt x="10523913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effectLst>
              <a:outerShdw blurRad="127000" dist="635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5E1324E-467C-FC06-FFB1-ADCF0A729332}"/>
                </a:ext>
              </a:extLst>
            </p:cNvPr>
            <p:cNvSpPr txBox="1"/>
            <p:nvPr/>
          </p:nvSpPr>
          <p:spPr>
            <a:xfrm>
              <a:off x="4435522" y="1915297"/>
              <a:ext cx="5239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Dashboard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6A29F10-7C9F-B12E-0C0C-04CFF0DD30A6}"/>
                </a:ext>
              </a:extLst>
            </p:cNvPr>
            <p:cNvSpPr txBox="1"/>
            <p:nvPr/>
          </p:nvSpPr>
          <p:spPr>
            <a:xfrm>
              <a:off x="6412880" y="922327"/>
              <a:ext cx="1285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04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756FF8-924F-7F0E-F637-125ADF08B091}"/>
                </a:ext>
              </a:extLst>
            </p:cNvPr>
            <p:cNvSpPr txBox="1"/>
            <p:nvPr/>
          </p:nvSpPr>
          <p:spPr>
            <a:xfrm>
              <a:off x="10413242" y="686322"/>
              <a:ext cx="8671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accent5">
                      <a:lumMod val="75000"/>
                      <a:alpha val="55000"/>
                    </a:schemeClr>
                  </a:solidFill>
                  <a:latin typeface="Lucida Console" panose="020B0609040504020204" pitchFamily="49" charset="0"/>
                </a:rPr>
                <a:t>4</a:t>
              </a:r>
            </a:p>
          </p:txBody>
        </p:sp>
        <p:pic>
          <p:nvPicPr>
            <p:cNvPr id="6" name="slide2" descr="Customer Analysis Dashboard">
              <a:extLst>
                <a:ext uri="{FF2B5EF4-FFF2-40B4-BE49-F238E27FC236}">
                  <a16:creationId xmlns:a16="http://schemas.microsoft.com/office/drawing/2014/main" id="{2C2C264C-B94B-7551-C7FB-6B8332A66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3695" y="2563309"/>
              <a:ext cx="5523471" cy="36807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4133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Customer Analysis Dashboard">
            <a:extLst>
              <a:ext uri="{FF2B5EF4-FFF2-40B4-BE49-F238E27FC236}">
                <a16:creationId xmlns:a16="http://schemas.microsoft.com/office/drawing/2014/main" id="{AB7D6FED-9CAB-4F7A-AC3D-5EF7FBC0F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354" y="0"/>
            <a:ext cx="10291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604</Words>
  <Application>Microsoft Office PowerPoint</Application>
  <PresentationFormat>Widescreen</PresentationFormat>
  <Paragraphs>130</Paragraphs>
  <Slides>10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Lucida Calligraphy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Cabral</dc:creator>
  <cp:lastModifiedBy>Carlos Cabral</cp:lastModifiedBy>
  <cp:revision>5</cp:revision>
  <dcterms:created xsi:type="dcterms:W3CDTF">2026-02-12T23:33:15Z</dcterms:created>
  <dcterms:modified xsi:type="dcterms:W3CDTF">2026-02-13T02:10:14Z</dcterms:modified>
</cp:coreProperties>
</file>