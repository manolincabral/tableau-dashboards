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79" r:id="rId5"/>
    <p:sldId id="280" r:id="rId6"/>
    <p:sldId id="281" r:id="rId7"/>
    <p:sldId id="28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20" userDrawn="1">
          <p15:clr>
            <a:srgbClr val="A4A3A4"/>
          </p15:clr>
        </p15:guide>
        <p15:guide id="3" pos="7176" userDrawn="1">
          <p15:clr>
            <a:srgbClr val="A4A3A4"/>
          </p15:clr>
        </p15:guide>
        <p15:guide id="5" orient="horz" pos="2160" userDrawn="1">
          <p15:clr>
            <a:srgbClr val="A4A3A4"/>
          </p15:clr>
        </p15:guide>
        <p15:guide id="6" pos="504" userDrawn="1">
          <p15:clr>
            <a:srgbClr val="A4A3A4"/>
          </p15:clr>
        </p15:guide>
        <p15:guide id="7" orient="horz" pos="1200" userDrawn="1">
          <p15:clr>
            <a:srgbClr val="A4A3A4"/>
          </p15:clr>
        </p15:guide>
        <p15:guide id="8" pos="2352" userDrawn="1">
          <p15:clr>
            <a:srgbClr val="A4A3A4"/>
          </p15:clr>
        </p15:guide>
        <p15:guide id="9" pos="39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7D5E00"/>
    <a:srgbClr val="A84A02"/>
    <a:srgbClr val="C45800"/>
    <a:srgbClr val="F55D00"/>
    <a:srgbClr val="0C1F49"/>
    <a:srgbClr val="21B062"/>
    <a:srgbClr val="696969"/>
    <a:srgbClr val="46696C"/>
    <a:srgbClr val="834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606" y="90"/>
      </p:cViewPr>
      <p:guideLst>
        <p:guide pos="720"/>
        <p:guide pos="7176"/>
        <p:guide orient="horz" pos="2160"/>
        <p:guide pos="504"/>
        <p:guide orient="horz" pos="1200"/>
        <p:guide pos="2352"/>
        <p:guide pos="39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D0CCEB-DFF8-417B-A87A-90F3D790592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FE758-9C44-40AF-9D52-A7EF39200D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ADB54-F1AF-44F8-8ED0-867524639FE1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24329-C497-4EFE-8EB2-F22CD57F39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C25EC-D008-42CF-845E-C895CC9B32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32E2A0-273F-4DCF-AF0B-3CFADE889CA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7201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E5575-CAFE-4A42-A774-E4652BA723C1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9DC9BE-8102-4ADA-9C69-422E2361041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949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EA1F5-0E0B-B85B-D1EB-BEBCBED6E5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9933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927EF45-A807-DB68-1EE5-2260524171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89933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CA415738-ECED-ED41-CA59-8E7C19FEC1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566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99194BA-C71C-FB82-7058-42ECFE165A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23533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C9BA2BC-110F-DB84-10C1-221D101343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23533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E7A2705-D148-A99C-16ED-444258463C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37742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9B7D98-8661-78D4-B906-E82F8AA1DB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66287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2B64643-487D-62DA-ED87-8BFFC06F47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6287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68C7255-63FE-E78E-F2B6-8C33F2646E5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62918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D3EA25A-8DAD-D356-C0BA-9C67D9A427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9247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BB83F7C-5495-8D46-6D74-3F64F38469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59247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3AEB463-3922-C6AB-FFB8-2EE779519A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88094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926F0D6-3D6F-CF88-7E9C-73E88C5C4B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7927" y="1397328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285DCD4-48AB-6937-6F44-D27E776530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97927" y="1821148"/>
            <a:ext cx="1438475" cy="655450"/>
          </a:xfrm>
          <a:effectLst/>
        </p:spPr>
        <p:txBody>
          <a:bodyPr lIns="91440" tIns="0" rIns="9144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5400" b="1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ACD2BFCC-FEE2-31DA-0E90-6DCCB69F624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13268" y="23567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091A83-55C5-27FA-B0EE-E6E2092FE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764" y="1306286"/>
            <a:ext cx="10634472" cy="39136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CE5B613-CC47-7166-1079-72D34B53B9C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79010" y="5697791"/>
            <a:ext cx="2953893" cy="221227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1300" b="1" cap="all" baseline="0">
                <a:latin typeface="+mj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6DA3FD6-1913-5628-D35E-F45A79957F4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79010" y="5919018"/>
            <a:ext cx="2953893" cy="55060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2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8B334E18-390E-B481-4560-DAEAEF9D71C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4327" y="5697791"/>
            <a:ext cx="3828963" cy="21139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1300" b="1" cap="all" baseline="0">
                <a:latin typeface="+mj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BB770A94-1A8E-909F-55E5-9098532EFF1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184327" y="5919018"/>
            <a:ext cx="3828963" cy="55060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2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4092BB43-4E44-1C9D-48F2-608DECE301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56284" y="5697791"/>
            <a:ext cx="2890149" cy="211395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1300" b="1" cap="all" baseline="0">
                <a:latin typeface="+mj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05A4B16-00D8-58AA-3C2E-8351922FC6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456284" y="5919018"/>
            <a:ext cx="2890149" cy="55060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2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B0EFD2-0C64-7216-257E-E1D8C1EDE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5779" y="5477927"/>
            <a:ext cx="3201070" cy="11456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95D4D0-921D-C50F-870D-54595D65E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50201" y="5477927"/>
            <a:ext cx="3163768" cy="11456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A7F94B-4FAB-8BB3-3ED5-D4AF2AC98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76849" y="5477927"/>
            <a:ext cx="4274022" cy="114565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8EC10B0-6B06-05CE-D736-6768A3FB1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10984" y="1314263"/>
            <a:ext cx="0" cy="391172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635BDF-F930-06EB-FDF1-D75067AAD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4086" y="1310948"/>
            <a:ext cx="6257" cy="391581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A96A1C0-3AF0-2C45-21BC-04215DB86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274841" y="1318344"/>
            <a:ext cx="0" cy="390764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6C2BD56-DD5B-ABC2-F434-B4AA1E69E2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034926" y="1319323"/>
            <a:ext cx="0" cy="390666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C1CC89FC-4DAE-5807-C0D4-AE935BA2E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28137" y="5063852"/>
            <a:ext cx="3182112" cy="1580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5562B5-D7F8-149B-9F5D-2BF3C3818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9322" y="5063638"/>
            <a:ext cx="4271158" cy="1504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D8BB4C-02F1-CBAA-42A4-A5A3CDD58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5779" y="5067939"/>
            <a:ext cx="3201074" cy="15807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EA1F5-0E0B-B85B-D1EB-BEBCBED6E5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5539" y="1920821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99194BA-C71C-FB82-7058-42ECFE165A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84081" y="1920821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9B7D98-8661-78D4-B906-E82F8AA1DB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95651" y="1920821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D3EA25A-8DAD-D356-C0BA-9C67D9A427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09951" y="1920821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D26AB3E-B10A-4C70-D3AD-491E455811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5539" y="2401271"/>
            <a:ext cx="1048318" cy="715161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14A0669-8D5C-FC6E-1C98-46776596BD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4081" y="2401271"/>
            <a:ext cx="1107754" cy="71516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60901E3-1C61-B8DC-535F-C5F1CBAA39F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95651" y="2401271"/>
            <a:ext cx="1048318" cy="715161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78ED9BB0-9FB4-8303-16A4-5995D3680D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09951" y="2401271"/>
            <a:ext cx="1312477" cy="715161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BB687EAD-FB4B-FA9F-E7A8-E8E8CCD5F4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71824" y="316005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533FEA29-0F2F-A12B-53EB-953304BB2EC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90366" y="316005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DAA64BE-E8B1-B220-EE5C-550C3D4A0C6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01936" y="316005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333D203-FBA0-4BF8-BF83-4CC6D427C2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16236" y="316005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72E1DD50-E0B1-C7F5-F912-B0A3F698EA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71824" y="3649648"/>
            <a:ext cx="1048318" cy="76439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1EC45EE4-79A0-FE4F-9CC8-47B296FEA5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90366" y="3649648"/>
            <a:ext cx="1107754" cy="76439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2F23D15D-8DCF-EFA9-F68B-1C99F5B7232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501936" y="3649648"/>
            <a:ext cx="1048318" cy="76439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F9AF8195-5929-2D30-026A-6E7FE3FAAC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16236" y="3649648"/>
            <a:ext cx="1147912" cy="764399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000" b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126906-4BEC-F0D8-22BD-C6C108D18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1845" y="5058410"/>
            <a:ext cx="2622711" cy="7643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927EF45-A807-DB68-1EE5-2260524171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07642" y="528649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0CF95-AB40-7CFB-D346-0A33C3A61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14556" y="5058410"/>
            <a:ext cx="2624328" cy="7643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C9BA2BC-110F-DB84-10C1-221D101343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6043" y="528649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368B47-D4FA-1A66-35F1-370E15D01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28880" y="5058410"/>
            <a:ext cx="2624328" cy="76439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2B64643-487D-62DA-ED87-8BFFC06F47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22672" y="528649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DFE37F-30BF-A89F-B95A-83D7A6BC8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50706" y="5058410"/>
            <a:ext cx="2624328" cy="76439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BB83F7C-5495-8D46-6D74-3F64F38469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41073" y="528649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ABCB24E-B29D-4CAD-6002-ADBEE7B51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6117" y="2160084"/>
            <a:ext cx="0" cy="292608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53638E-B4F4-BC5B-4F7B-2632A642F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4556" y="2160084"/>
            <a:ext cx="0" cy="292608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D2369F-A70B-DD0A-2CBB-ED8F8D206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28880" y="2160084"/>
            <a:ext cx="0" cy="292608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B2B62D-1C66-8947-ADE4-D3372719D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48206" y="2160084"/>
            <a:ext cx="0" cy="292608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C2EA01-3CC8-9317-AD83-25CAF4172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24219" y="3385635"/>
            <a:ext cx="0" cy="173736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3C9A28-AA60-F592-9922-37514253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104893" y="3385635"/>
            <a:ext cx="0" cy="173736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E6E67FC-CD5C-378F-5A1D-2FEA254C0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343545" y="3385635"/>
            <a:ext cx="0" cy="173736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AEFC0F0-A911-503E-F2D1-80A2C2732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962873" y="3385635"/>
            <a:ext cx="0" cy="173736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69F6437-9EF2-9F8E-DAB0-99F3F9809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5896340" y="2160084"/>
            <a:ext cx="265079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8BFBCA3-D3BE-0434-DC7B-4E1D3334D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208504" y="3381429"/>
            <a:ext cx="265079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253FDA-FEA9-EA91-CB3A-429D559AE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515666" y="2160084"/>
            <a:ext cx="26507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0967671-6CAD-416D-3A6F-0418B751A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3282016" y="2160084"/>
            <a:ext cx="265079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44CF2C2-869D-7484-D18B-922E3312F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670191" y="2160084"/>
            <a:ext cx="265079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2A6F0CA-0A69-92A7-71D7-54DD8B24E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91679" y="3381429"/>
            <a:ext cx="265079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81E03DD-A47B-70BE-0259-6976F5F28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970660" y="3381429"/>
            <a:ext cx="265079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065CBF5-8D14-2F85-AF20-B4EE23B18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9830330" y="3381429"/>
            <a:ext cx="265079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577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9906B8-0130-4CE3-A402-AD14F694B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764" y="1336981"/>
            <a:ext cx="10634472" cy="507527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EA1F5-0E0B-B85B-D1EB-BEBCBED6E5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1222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927EF45-A807-DB68-1EE5-2260524171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1222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D0FD1A64-5429-B203-D1FD-902607CD1A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2566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2EC95D5-1A0A-6660-B6C6-30CA65A3938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502911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99194BA-C71C-FB82-7058-42ECFE165A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34822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1C9BA2BC-110F-DB84-10C1-221D101343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34822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D9324C6-8649-EB3C-8916-E1EA3B89150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37742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FF90473A-C83D-5DEA-ED9A-7152AD2E5AF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639654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E9B7D98-8661-78D4-B906-E82F8AA1DB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66287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2B64643-487D-62DA-ED87-8BFFC06F474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66287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4179D1CF-4097-FC8C-51C1-CE6ECEE017B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062918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9" name="Picture Placeholder 5">
            <a:extLst>
              <a:ext uri="{FF2B5EF4-FFF2-40B4-BE49-F238E27FC236}">
                <a16:creationId xmlns:a16="http://schemas.microsoft.com/office/drawing/2014/main" id="{022FCC6D-3088-C2FB-FC8F-E636A7F53A1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748335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D3EA25A-8DAD-D356-C0BA-9C67D9A427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359247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BB83F7C-5495-8D46-6D74-3F64F38469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59247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6806C076-7B20-8C54-8D7C-15B7E32E8B6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88094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30" name="Picture Placeholder 5">
            <a:extLst>
              <a:ext uri="{FF2B5EF4-FFF2-40B4-BE49-F238E27FC236}">
                <a16:creationId xmlns:a16="http://schemas.microsoft.com/office/drawing/2014/main" id="{3F3E8A8F-E827-C446-AF20-B093FE64571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732677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926F0D6-3D6F-CF88-7E9C-73E88C5C4B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92068" y="1615044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285DCD4-48AB-6937-6F44-D27E776530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92068" y="2027575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8550EAA6-FAF3-B60B-E55B-E2D09B5B32C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313268" y="2560320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92608" tIns="82296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31" name="Picture Placeholder 5">
            <a:extLst>
              <a:ext uri="{FF2B5EF4-FFF2-40B4-BE49-F238E27FC236}">
                <a16:creationId xmlns:a16="http://schemas.microsoft.com/office/drawing/2014/main" id="{BF1B1D02-C803-3AEC-B070-F54F61C0ED5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986020" y="5518603"/>
            <a:ext cx="685800" cy="685800"/>
          </a:xfrm>
        </p:spPr>
        <p:txBody>
          <a:bodyPr>
            <a:normAutofit/>
          </a:bodyPr>
          <a:lstStyle>
            <a:lvl1pPr marL="0" indent="0" algn="ctr">
              <a:buNone/>
              <a:defRPr sz="1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030AAA-2CDD-F298-9062-1132B6819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20510" y="1343405"/>
            <a:ext cx="0" cy="506242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6D0763-9E6E-FF42-0267-56F3338C0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63612" y="1343405"/>
            <a:ext cx="0" cy="506242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6EBB92-E236-06E9-FC5C-300CD3E98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284367" y="1343405"/>
            <a:ext cx="0" cy="506242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49919DC-1013-927F-4E81-1EBFB7517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044452" y="1343405"/>
            <a:ext cx="0" cy="5062426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2CFA93D-825C-5D1C-6391-7C5F1C82D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769620" y="5399391"/>
            <a:ext cx="1064361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7496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martAr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88D67B3A-7763-7946-C85A-D14F3AC99EFB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800100" y="1195388"/>
            <a:ext cx="10591800" cy="5083175"/>
          </a:xfrm>
          <a:ln w="19050"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E0B3DD-01F4-FA08-2C93-4F4AC23298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64841" y="1729157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F56F623-4FDE-B4E0-5A66-17B29BEA10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86612" y="3439886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2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94380A0-C940-A82F-E9C8-F63EF03D89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67511" y="5128843"/>
            <a:ext cx="685800" cy="6858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800" b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70498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lestones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FFF060A-09C6-5B83-D598-922FBC00B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10291" y="3288744"/>
            <a:ext cx="409625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67118EA-0679-56DB-30AA-15366D841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31055" y="3288744"/>
            <a:ext cx="409625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7D4C26-298D-B369-3923-22B4E0751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36924" y="3288744"/>
            <a:ext cx="409625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1524A62-C119-A675-F4F4-B43997BF7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7628" y="3288744"/>
            <a:ext cx="409625" cy="0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43F9D051-5615-6520-C9FE-2194E5F476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4794" y="2539927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2D33364F-212C-47CD-61DB-B968966244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34794" y="2952861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1A2BC30-6C99-2F27-33C0-75369E2DB4B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23854" y="3465576"/>
            <a:ext cx="2551176" cy="212081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27432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CC9A1613-1BBF-BD90-BEEE-BD897E9497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1846" y="2539927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304FCD1-A30E-46B1-D7C8-DE1BE7FFAE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1846" y="2952861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D540769-785D-73F3-BFE4-6B3BD5E5073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7341" y="3465576"/>
            <a:ext cx="2551176" cy="212081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27432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B3A9FF4-06B5-103D-E04A-59C091EC5AE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8699" y="2539927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D86C2B1E-2069-E1E8-1D55-F06FEC4025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8699" y="2952861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28F6B4AA-751C-B5D8-6672-3774E22E349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50828" y="3465576"/>
            <a:ext cx="2551176" cy="212081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27432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AE3F56D-0C35-24AD-243F-104C2FD0A1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42703" y="2539927"/>
            <a:ext cx="1438475" cy="445972"/>
          </a:xfrm>
        </p:spPr>
        <p:txBody>
          <a:bodyPr anchor="b">
            <a:normAutofit/>
          </a:bodyPr>
          <a:lstStyle>
            <a:lvl1pPr marL="0" indent="0">
              <a:buNone/>
              <a:defRPr sz="1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F7E2EDC6-8ADC-73F3-2B50-F76AAE96B31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42703" y="2952861"/>
            <a:ext cx="1438475" cy="655450"/>
          </a:xfrm>
        </p:spPr>
        <p:txBody>
          <a:bodyPr lIns="91440" tIns="0" rIns="91440" bIns="0" anchor="t">
            <a:noAutofit/>
          </a:bodyPr>
          <a:lstStyle>
            <a:lvl1pPr marL="0" indent="0">
              <a:buNone/>
              <a:defRPr sz="5400" b="1" cap="all" baseline="0">
                <a:latin typeface="+mn-lt"/>
              </a:defRPr>
            </a:lvl1pPr>
            <a:lvl2pPr marL="457200" indent="0">
              <a:buNone/>
              <a:defRPr b="1">
                <a:latin typeface="+mj-lt"/>
              </a:defRPr>
            </a:lvl2pPr>
            <a:lvl3pPr marL="914400" indent="0">
              <a:buNone/>
              <a:defRPr b="1">
                <a:latin typeface="+mj-lt"/>
              </a:defRPr>
            </a:lvl3pPr>
            <a:lvl4pPr marL="1371600" indent="0">
              <a:buNone/>
              <a:defRPr b="1">
                <a:latin typeface="+mj-lt"/>
              </a:defRPr>
            </a:lvl4pPr>
            <a:lvl5pPr marL="1828800" indent="0">
              <a:buNone/>
              <a:defRPr b="1">
                <a:latin typeface="+mj-lt"/>
              </a:defRPr>
            </a:lvl5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FB0834E-950B-9510-9239-74E1A443E8C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64315" y="3465576"/>
            <a:ext cx="2551176" cy="212081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508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274320" rtlCol="0"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US" sz="120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Add text here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126906-4BEC-F0D8-22BD-C6C108D18F9A}"/>
              </a:ext>
            </a:extLst>
          </p:cNvPr>
          <p:cNvSpPr/>
          <p:nvPr userDrawn="1"/>
        </p:nvSpPr>
        <p:spPr>
          <a:xfrm>
            <a:off x="791845" y="5733324"/>
            <a:ext cx="2622711" cy="1558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F0CF95-AB40-7CFB-D346-0A33C3A61D15}"/>
              </a:ext>
            </a:extLst>
          </p:cNvPr>
          <p:cNvSpPr/>
          <p:nvPr userDrawn="1"/>
        </p:nvSpPr>
        <p:spPr>
          <a:xfrm>
            <a:off x="3414556" y="5733324"/>
            <a:ext cx="2624328" cy="1558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368B47-D4FA-1A66-35F1-370E15D0131A}"/>
              </a:ext>
            </a:extLst>
          </p:cNvPr>
          <p:cNvSpPr/>
          <p:nvPr userDrawn="1"/>
        </p:nvSpPr>
        <p:spPr>
          <a:xfrm>
            <a:off x="6028880" y="5733324"/>
            <a:ext cx="2624328" cy="1558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DFE37F-30BF-A89F-B95A-83D7A6BC8643}"/>
              </a:ext>
            </a:extLst>
          </p:cNvPr>
          <p:cNvSpPr/>
          <p:nvPr userDrawn="1"/>
        </p:nvSpPr>
        <p:spPr>
          <a:xfrm>
            <a:off x="8650706" y="5733324"/>
            <a:ext cx="2624328" cy="15584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82BC64-B49A-DA09-3131-8F5EF49AB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20615" y="3300101"/>
            <a:ext cx="1550" cy="245348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B48953-E009-62AA-4880-086254339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35868" y="3288744"/>
            <a:ext cx="1550" cy="245348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C83577-42FC-383D-02D2-51AC91ADB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41737" y="3288744"/>
            <a:ext cx="1550" cy="2453489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FA8576-3F2E-23B4-2B15-01C4378C1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97872" y="3288744"/>
            <a:ext cx="1550" cy="2453489"/>
          </a:xfrm>
          <a:prstGeom prst="line">
            <a:avLst/>
          </a:prstGeom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49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F0B1-5FBF-6F99-DA2D-C2AE165C78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1622" y="281358"/>
            <a:ext cx="10643616" cy="914400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b="0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74091-9EA2-47C8-AAA9-6DFE207852E4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680354" y="1786436"/>
            <a:ext cx="10711545" cy="452292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295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94C4A8-C2EB-4D2A-A43E-BE19EA9AE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742BD-2E9C-46B7-AFF7-A440C094D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3F001-24C4-4191-A568-B1096B9ABF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9F280-24DB-415F-8DF8-72D7FF3C4BF0}" type="datetimeFigureOut">
              <a:rPr lang="en-US" noProof="0" smtClean="0"/>
              <a:t>2/18/2026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E5E6E-ED1A-4700-A7E8-68DEBCDD6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E6C46-B63C-4A83-8155-0AE7FABAD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A9A2B-DCEA-459B-8067-44D042050D8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0101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71" r:id="rId4"/>
    <p:sldLayoutId id="2147483669" r:id="rId5"/>
    <p:sldLayoutId id="214748366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7568D85A-4482-C446-7874-8779D066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Journey to the</a:t>
            </a:r>
            <a:r>
              <a:rPr lang="en-US" dirty="0"/>
              <a:t> HR Dashboard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BCC40CC-6EB0-FDCD-43E7-4D49E10949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F05CE1BC-132C-411A-E0AC-F0E0654DE8B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01</a:t>
            </a:r>
          </a:p>
        </p:txBody>
      </p:sp>
      <p:sp>
        <p:nvSpPr>
          <p:cNvPr id="338" name="Text Placeholder 337">
            <a:extLst>
              <a:ext uri="{FF2B5EF4-FFF2-40B4-BE49-F238E27FC236}">
                <a16:creationId xmlns:a16="http://schemas.microsoft.com/office/drawing/2014/main" id="{7BCB781A-EB9C-E148-AE9B-35CF918AAE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 tIns="548640"/>
          <a:lstStyle/>
          <a:p>
            <a:pPr>
              <a:spcBef>
                <a:spcPts val="600"/>
              </a:spcBef>
            </a:pPr>
            <a:r>
              <a:rPr lang="en-US" dirty="0"/>
              <a:t>Understand Customer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Collect requirements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Choose the right charts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Draw mockups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Choose the colors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2DFAEA8-8FBA-68A0-26A9-208042F0F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EC28EBE-6424-C06E-63D9-91CB16EA7A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02</a:t>
            </a:r>
          </a:p>
        </p:txBody>
      </p:sp>
      <p:sp>
        <p:nvSpPr>
          <p:cNvPr id="220" name="Text Placeholder 219">
            <a:extLst>
              <a:ext uri="{FF2B5EF4-FFF2-40B4-BE49-F238E27FC236}">
                <a16:creationId xmlns:a16="http://schemas.microsoft.com/office/drawing/2014/main" id="{D02ACCCE-2A8D-B4B1-8723-EF649541537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 tIns="548640"/>
          <a:lstStyle/>
          <a:p>
            <a:pPr lvl="0"/>
            <a:r>
              <a:rPr lang="en-US" dirty="0"/>
              <a:t>Identify the Data Source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Connect the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Cleanup the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Create data model (when applicable)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Check data types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6843A16-DAFB-669F-1DA2-BE8B1403E7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34F17B89-C0A6-BBAE-7F92-678445DD51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03</a:t>
            </a:r>
          </a:p>
        </p:txBody>
      </p:sp>
      <p:sp>
        <p:nvSpPr>
          <p:cNvPr id="221" name="Text Placeholder 220">
            <a:extLst>
              <a:ext uri="{FF2B5EF4-FFF2-40B4-BE49-F238E27FC236}">
                <a16:creationId xmlns:a16="http://schemas.microsoft.com/office/drawing/2014/main" id="{2804F502-4625-161C-1D96-93B008ED47B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tIns="548640"/>
          <a:lstStyle/>
          <a:p>
            <a:pPr lvl="0"/>
            <a:r>
              <a:rPr lang="en-US" dirty="0"/>
              <a:t>Build the Charts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Create calculations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Build each chart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Format the charts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Cleanup and prepare the charts</a:t>
            </a:r>
          </a:p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6960D939-83DA-55B5-A09E-0B008ABCD4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9E9978D-5586-05F5-07DF-3BDCA53216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04</a:t>
            </a:r>
          </a:p>
        </p:txBody>
      </p:sp>
      <p:sp>
        <p:nvSpPr>
          <p:cNvPr id="222" name="Text Placeholder 221">
            <a:extLst>
              <a:ext uri="{FF2B5EF4-FFF2-40B4-BE49-F238E27FC236}">
                <a16:creationId xmlns:a16="http://schemas.microsoft.com/office/drawing/2014/main" id="{5D63A976-2732-C1EF-DB91-680BA7E1A72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tIns="548640">
            <a:normAutofit fontScale="92500" lnSpcReduction="10000"/>
          </a:bodyPr>
          <a:lstStyle/>
          <a:p>
            <a:pPr lvl="0"/>
            <a:r>
              <a:rPr lang="en-US" dirty="0"/>
              <a:t>Build the Dashboard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Draw a dashboard mockup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Create container structure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Put all charts together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Format the dashboard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Add filters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Beautify the dashboard</a:t>
            </a:r>
          </a:p>
          <a:p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F25AF0A1-9E2E-D0DC-9134-C69F4347CF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STAGE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D1064AE-A9F2-203C-E6AA-3A29AD1D62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05</a:t>
            </a:r>
          </a:p>
        </p:txBody>
      </p:sp>
      <p:sp>
        <p:nvSpPr>
          <p:cNvPr id="223" name="Text Placeholder 222">
            <a:extLst>
              <a:ext uri="{FF2B5EF4-FFF2-40B4-BE49-F238E27FC236}">
                <a16:creationId xmlns:a16="http://schemas.microsoft.com/office/drawing/2014/main" id="{8C1B124E-C873-6E70-E36F-95FABCE02CC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 tIns="548640"/>
          <a:lstStyle/>
          <a:p>
            <a:pPr lvl="0"/>
            <a:r>
              <a:rPr lang="en-US" dirty="0"/>
              <a:t>Create file structure</a:t>
            </a:r>
          </a:p>
          <a:p>
            <a:pPr lvl="0"/>
            <a:r>
              <a:rPr lang="en-US" dirty="0"/>
              <a:t>Export the dashboard</a:t>
            </a:r>
          </a:p>
          <a:p>
            <a:pPr lvl="0"/>
            <a:r>
              <a:rPr lang="en-US" dirty="0"/>
              <a:t>Compress data files</a:t>
            </a:r>
          </a:p>
          <a:p>
            <a:pPr lvl="0"/>
            <a:r>
              <a:rPr lang="en-US" dirty="0"/>
              <a:t>Upload all files to </a:t>
            </a:r>
            <a:r>
              <a:rPr lang="en-US" dirty="0" err="1"/>
              <a:t>Github</a:t>
            </a:r>
            <a:endParaRPr lang="en-US" dirty="0"/>
          </a:p>
          <a:p>
            <a:pPr lvl="0"/>
            <a:endParaRPr lang="en-US" dirty="0"/>
          </a:p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DB65EA-D964-B07D-BF82-E74EAEF93C7B}"/>
              </a:ext>
            </a:extLst>
          </p:cNvPr>
          <p:cNvSpPr txBox="1"/>
          <p:nvPr/>
        </p:nvSpPr>
        <p:spPr>
          <a:xfrm>
            <a:off x="2250502" y="5504688"/>
            <a:ext cx="7470043" cy="10972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User Story - HR Dashboard</a:t>
            </a:r>
          </a:p>
          <a:p>
            <a:r>
              <a:rPr lang="en-US" sz="1400" dirty="0">
                <a:solidFill>
                  <a:schemeClr val="bg1"/>
                </a:solidFill>
              </a:rPr>
              <a:t>As an HR manager, I want a comprehensive dashboard to analyze human resources data, providing both summary views for high-level insights and detailed employee records for in-depth analysis.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077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5271D-6009-F328-7FCE-3D5495D77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requirements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0F126A-9F17-196A-528F-28FA20EA70F9}"/>
              </a:ext>
            </a:extLst>
          </p:cNvPr>
          <p:cNvSpPr txBox="1"/>
          <p:nvPr/>
        </p:nvSpPr>
        <p:spPr>
          <a:xfrm>
            <a:off x="781622" y="1338470"/>
            <a:ext cx="10643616" cy="4678204"/>
          </a:xfrm>
          <a:prstGeom prst="rect">
            <a:avLst/>
          </a:prstGeom>
          <a:noFill/>
        </p:spPr>
        <p:txBody>
          <a:bodyPr wrap="square" tIns="182880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Display the total number of hired employees, active employees, and terminated employees.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Visualize the total number of hired and terminated employees over the years.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Present a breakdown of total employees by department and job titles.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Compare total employees between headquarters (HQ) and branches (New York is the HQ)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Show the distribution of employees by city and state.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Present the gender ratio in the company.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Visualize the distribution of employees across age groups and education levels.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Show the total number of employees within each age group.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Show the total number of employees within each education level.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Present the correlation between employees' educational backgrounds and their performance ratings.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Compare salaries across different education levels for both genders to identify any discrepancies or patterns.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Present how the age correlate with the salary for employees in each department.</a:t>
            </a:r>
          </a:p>
        </p:txBody>
      </p:sp>
    </p:spTree>
    <p:extLst>
      <p:ext uri="{BB962C8B-B14F-4D97-AF65-F5344CB8AC3E}">
        <p14:creationId xmlns:p14="http://schemas.microsoft.com/office/powerpoint/2010/main" val="417170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38E4C-68E0-7024-A250-CD4284DB8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6EA6A-D22D-32B5-22E0-7672CBF5A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Mockup – Overview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34057D-5C2D-1BF8-99F3-9EE64C442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16" y="1114398"/>
            <a:ext cx="8401309" cy="574360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32111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7591A-A8DF-837B-2B5F-DEB72C6E2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6FB34-7D9B-1FE1-B166-05C35F831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Mockup – detail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3A822B-2CA4-FD00-E018-E8D427BFA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83" y="1195758"/>
            <a:ext cx="8613913" cy="566224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329752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5">
      <a:dk1>
        <a:srgbClr val="000000"/>
      </a:dk1>
      <a:lt1>
        <a:srgbClr val="FFFFFF"/>
      </a:lt1>
      <a:dk2>
        <a:srgbClr val="93D24F"/>
      </a:dk2>
      <a:lt2>
        <a:srgbClr val="E7E6E6"/>
      </a:lt2>
      <a:accent1>
        <a:srgbClr val="5AB0F1"/>
      </a:accent1>
      <a:accent2>
        <a:srgbClr val="EFB233"/>
      </a:accent2>
      <a:accent3>
        <a:srgbClr val="0CC6D3"/>
      </a:accent3>
      <a:accent4>
        <a:srgbClr val="D9A0DF"/>
      </a:accent4>
      <a:accent5>
        <a:srgbClr val="FF3FFF"/>
      </a:accent5>
      <a:accent6>
        <a:srgbClr val="BAE6F4"/>
      </a:accent6>
      <a:hlink>
        <a:srgbClr val="BAE6F4"/>
      </a:hlink>
      <a:folHlink>
        <a:srgbClr val="EFB233"/>
      </a:folHlink>
    </a:clrScheme>
    <a:fontScheme name="Custom 38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420931_win32_SL_v8b" id="{962BA849-7D3A-447C-8E0C-C6B8A54EB752}" vid="{8239B2B3-BE63-49D7-8C43-6D1FACD8CE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17748DE-D1CF-4B15-AE74-C1B32FB822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3E00486-CB92-4A36-912A-95D11F2FF94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81DA0BA-EC0A-451C-A13D-96E558F522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Project stage timeline</Template>
  <TotalTime>3367</TotalTime>
  <Words>301</Words>
  <Application>Microsoft Office PowerPoint</Application>
  <PresentationFormat>Widescreen</PresentationFormat>
  <Paragraphs>54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Century Gothic</vt:lpstr>
      <vt:lpstr>Office Theme</vt:lpstr>
      <vt:lpstr>Journey to the HR Dashboard</vt:lpstr>
      <vt:lpstr>Customer requirements</vt:lpstr>
      <vt:lpstr>Dashboard Mockup – Overview Page</vt:lpstr>
      <vt:lpstr>Dashboard Mockup – detail Page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Cabral</dc:creator>
  <cp:lastModifiedBy>Carlos Cabral</cp:lastModifiedBy>
  <cp:revision>9</cp:revision>
  <dcterms:created xsi:type="dcterms:W3CDTF">2026-02-13T19:01:46Z</dcterms:created>
  <dcterms:modified xsi:type="dcterms:W3CDTF">2026-02-19T15:15:08Z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